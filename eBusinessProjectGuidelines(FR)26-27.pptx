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71" r:id="rId2"/>
    <p:sldId id="256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2" r:id="rId13"/>
    <p:sldId id="273" r:id="rId14"/>
    <p:sldId id="265" r:id="rId15"/>
    <p:sldId id="274" r:id="rId16"/>
    <p:sldId id="275" r:id="rId17"/>
    <p:sldId id="266" r:id="rId18"/>
    <p:sldId id="378" r:id="rId19"/>
    <p:sldId id="377" r:id="rId20"/>
    <p:sldId id="364" r:id="rId21"/>
    <p:sldId id="380" r:id="rId22"/>
    <p:sldId id="379" r:id="rId23"/>
    <p:sldId id="381" r:id="rId24"/>
    <p:sldId id="27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701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E95B8B-41AD-4453-BA6C-648617AABB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5A2F-6828-61C0-3E78-F89BA294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FF2A6-8E66-6A7D-48BA-DE6DE80F4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08244-773F-101D-598C-3EBFC59E7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19C4E-B447-59B3-B17B-16C09ED77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53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50E40F-2486-41FC-BC20-0A8DA21D31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81FD83-95C5-47D4-9095-C54A65FEA2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83BA2C-6661-4FE5-B053-5671EEFB24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254DDB-92F9-4896-8875-6454B2AFD6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8701A-850C-573D-6C0E-2823EDA3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>
            <a:extLst>
              <a:ext uri="{FF2B5EF4-FFF2-40B4-BE49-F238E27FC236}">
                <a16:creationId xmlns:a16="http://schemas.microsoft.com/office/drawing/2014/main" id="{D028310B-9018-1AB5-0ED8-771C76BF6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>
            <a:extLst>
              <a:ext uri="{FF2B5EF4-FFF2-40B4-BE49-F238E27FC236}">
                <a16:creationId xmlns:a16="http://schemas.microsoft.com/office/drawing/2014/main" id="{D7CCF469-3934-559C-30D9-F4A5E68EDA6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>
            <a:extLst>
              <a:ext uri="{FF2B5EF4-FFF2-40B4-BE49-F238E27FC236}">
                <a16:creationId xmlns:a16="http://schemas.microsoft.com/office/drawing/2014/main" id="{6F0B0A88-FA8C-0F2F-E529-CA698C708652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AAD40-04D7-4977-9B91-FD6D92B41E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52237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833DA-E961-8425-7719-302C21087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>
            <a:extLst>
              <a:ext uri="{FF2B5EF4-FFF2-40B4-BE49-F238E27FC236}">
                <a16:creationId xmlns:a16="http://schemas.microsoft.com/office/drawing/2014/main" id="{2E27E0A0-1BA7-D54E-A21B-05D36FFE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>
            <a:extLst>
              <a:ext uri="{FF2B5EF4-FFF2-40B4-BE49-F238E27FC236}">
                <a16:creationId xmlns:a16="http://schemas.microsoft.com/office/drawing/2014/main" id="{2E4A4EC3-CEC1-2BB8-ACB1-0DFE7FF1A5B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>
            <a:extLst>
              <a:ext uri="{FF2B5EF4-FFF2-40B4-BE49-F238E27FC236}">
                <a16:creationId xmlns:a16="http://schemas.microsoft.com/office/drawing/2014/main" id="{D0B9847B-395C-D75F-9231-C9327D8A9ED1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AAD40-04D7-4977-9B91-FD6D92B41E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02806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569AA-CCFB-07A3-07D9-33B80A88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>
            <a:extLst>
              <a:ext uri="{FF2B5EF4-FFF2-40B4-BE49-F238E27FC236}">
                <a16:creationId xmlns:a16="http://schemas.microsoft.com/office/drawing/2014/main" id="{42806887-3536-CF2E-EB70-3D4454D31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>
            <a:extLst>
              <a:ext uri="{FF2B5EF4-FFF2-40B4-BE49-F238E27FC236}">
                <a16:creationId xmlns:a16="http://schemas.microsoft.com/office/drawing/2014/main" id="{2C94DAE7-B555-C525-4FA8-BC218BBE2E3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>
            <a:extLst>
              <a:ext uri="{FF2B5EF4-FFF2-40B4-BE49-F238E27FC236}">
                <a16:creationId xmlns:a16="http://schemas.microsoft.com/office/drawing/2014/main" id="{4A7FD80A-54EB-2EFA-2978-7A6F639C0A90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AAD40-04D7-4977-9B91-FD6D92B41E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355716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5B941-02FB-796E-5DBF-C070395D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>
            <a:extLst>
              <a:ext uri="{FF2B5EF4-FFF2-40B4-BE49-F238E27FC236}">
                <a16:creationId xmlns:a16="http://schemas.microsoft.com/office/drawing/2014/main" id="{3B897688-2318-1756-4C7F-3E3B89BD6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>
            <a:extLst>
              <a:ext uri="{FF2B5EF4-FFF2-40B4-BE49-F238E27FC236}">
                <a16:creationId xmlns:a16="http://schemas.microsoft.com/office/drawing/2014/main" id="{01606D8E-10B5-4106-8483-3B5C52E3352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>
            <a:extLst>
              <a:ext uri="{FF2B5EF4-FFF2-40B4-BE49-F238E27FC236}">
                <a16:creationId xmlns:a16="http://schemas.microsoft.com/office/drawing/2014/main" id="{745A1EC1-C1FF-F75C-BC4E-060B0D64B35C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AAD40-04D7-4977-9B91-FD6D92B41E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5018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95324-B3C1-DA8F-4A93-98E3FA372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>
            <a:extLst>
              <a:ext uri="{FF2B5EF4-FFF2-40B4-BE49-F238E27FC236}">
                <a16:creationId xmlns:a16="http://schemas.microsoft.com/office/drawing/2014/main" id="{09D725EC-6CA4-9B6D-6DE0-99964C965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>
            <a:extLst>
              <a:ext uri="{FF2B5EF4-FFF2-40B4-BE49-F238E27FC236}">
                <a16:creationId xmlns:a16="http://schemas.microsoft.com/office/drawing/2014/main" id="{0AE25946-7864-04C2-2F1F-EFF20996380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>
            <a:extLst>
              <a:ext uri="{FF2B5EF4-FFF2-40B4-BE49-F238E27FC236}">
                <a16:creationId xmlns:a16="http://schemas.microsoft.com/office/drawing/2014/main" id="{C8EC055C-63DC-2554-0A1E-2D78D618C5AD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AAD40-04D7-4977-9B91-FD6D92B41E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83309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AAD40-04D7-4977-9B91-FD6D92B41E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DITOR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567000" y="201240"/>
            <a:ext cx="51202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210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ESB  /  DIGITAL MARKETING  /  SEP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1"/>
          <p:cNvSpPr/>
          <p:nvPr/>
        </p:nvSpPr>
        <p:spPr>
          <a:xfrm>
            <a:off x="566640" y="447840"/>
            <a:ext cx="11027880" cy="360"/>
          </a:xfrm>
          <a:prstGeom prst="line">
            <a:avLst/>
          </a:prstGeom>
          <a:ln w="10160">
            <a:solidFill>
              <a:srgbClr val="1A1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7863840" y="6528960"/>
            <a:ext cx="3730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u="none" strike="noStrike" spc="150">
                <a:solidFill>
                  <a:srgbClr val="777777"/>
                </a:solidFill>
                <a:effectLst/>
                <a:uFillTx/>
                <a:latin typeface="Noto Sans"/>
                <a:ea typeface="Noto Sans"/>
              </a:rPr>
              <a:t>HUMAN-LED  /  AI-SUPPORTED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E4FE0C6-96B6-428C-A2F2-2A665ED828C9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‹N°›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192951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0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cdn.scribbr.com/wp-content/uploads/2020/09/Manuel-APA-de-Scribbr-7eme-edition.pdf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hyperlink" Target="mailto:Marouane.trimeche@esprit.tn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567000" y="65844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900" b="1" u="none" strike="noStrike" spc="201" dirty="0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BRIEF DE PROJET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567000" y="2432520"/>
            <a:ext cx="10789560" cy="199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7300" b="0" u="none" strike="noStrike" dirty="0">
                <a:solidFill>
                  <a:srgbClr val="FF0000"/>
                </a:solidFill>
                <a:effectLst/>
                <a:uFillTx/>
                <a:latin typeface="Noto Serif"/>
                <a:ea typeface="Noto Serif"/>
              </a:rPr>
              <a:t>eBusiness </a:t>
            </a:r>
            <a:endParaRPr lang="en-US" sz="73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566639" y="4566060"/>
            <a:ext cx="6546430" cy="56160"/>
          </a:xfrm>
          <a:prstGeom prst="line">
            <a:avLst/>
          </a:prstGeom>
          <a:ln w="635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1" u="none" strike="noStrike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566639" y="4743720"/>
            <a:ext cx="7954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500" u="none" strike="noStrike" dirty="0">
                <a:solidFill>
                  <a:srgbClr val="232323"/>
                </a:solidFill>
                <a:effectLst/>
                <a:uFillTx/>
                <a:latin typeface="Arial Narrow" panose="020B0606020202030204" pitchFamily="34" charset="0"/>
                <a:ea typeface="Noto Sans"/>
              </a:rPr>
              <a:t>Construire, lancer et évaluer un module basé sur </a:t>
            </a:r>
            <a:r>
              <a:rPr lang="en-US" sz="2500" dirty="0" err="1">
                <a:solidFill>
                  <a:srgbClr val="232323"/>
                </a:solidFill>
                <a:latin typeface="Arial Narrow" panose="020B0606020202030204" pitchFamily="34" charset="0"/>
                <a:ea typeface="Noto Sans"/>
              </a:rPr>
              <a:t>l’IA</a:t>
            </a:r>
            <a:r>
              <a:rPr lang="en-US" sz="2500" u="none" strike="noStrike" dirty="0">
                <a:solidFill>
                  <a:srgbClr val="232323"/>
                </a:solidFill>
                <a:effectLst/>
                <a:uFillTx/>
                <a:latin typeface="Arial Narrow" panose="020B0606020202030204" pitchFamily="34" charset="0"/>
                <a:ea typeface="Noto Sans"/>
              </a:rPr>
              <a:t> </a:t>
            </a:r>
            <a:r>
              <a:rPr lang="en-US" sz="2500" u="none" strike="noStrike" dirty="0" err="1">
                <a:solidFill>
                  <a:srgbClr val="232323"/>
                </a:solidFill>
                <a:effectLst/>
                <a:uFillTx/>
                <a:latin typeface="Arial Narrow" panose="020B0606020202030204" pitchFamily="34" charset="0"/>
                <a:ea typeface="Noto Sans"/>
              </a:rPr>
              <a:t>afin</a:t>
            </a:r>
            <a:r>
              <a:rPr lang="en-US" sz="2500" u="none" strike="noStrike" dirty="0">
                <a:solidFill>
                  <a:srgbClr val="232323"/>
                </a:solidFill>
                <a:effectLst/>
                <a:uFillTx/>
                <a:latin typeface="Arial Narrow" panose="020B0606020202030204" pitchFamily="34" charset="0"/>
                <a:ea typeface="Noto Sans"/>
              </a:rPr>
              <a:t> de </a:t>
            </a:r>
            <a:r>
              <a:rPr lang="en-US" sz="2500" u="none" strike="noStrike" dirty="0" err="1">
                <a:solidFill>
                  <a:srgbClr val="232323"/>
                </a:solidFill>
                <a:effectLst/>
                <a:uFillTx/>
                <a:latin typeface="Arial Narrow" panose="020B0606020202030204" pitchFamily="34" charset="0"/>
                <a:ea typeface="Noto Sans"/>
              </a:rPr>
              <a:t>resoudre</a:t>
            </a:r>
            <a:r>
              <a:rPr lang="en-US" sz="2500" u="none" strike="noStrike" dirty="0">
                <a:solidFill>
                  <a:srgbClr val="232323"/>
                </a:solidFill>
                <a:effectLst/>
                <a:uFillTx/>
                <a:latin typeface="Arial Narrow" panose="020B0606020202030204" pitchFamily="34" charset="0"/>
                <a:ea typeface="Noto Sans"/>
              </a:rPr>
              <a:t> des problèmes pertinents et locaux.</a:t>
            </a:r>
            <a:endParaRPr lang="en-US" sz="2500" u="none" strike="noStrike" dirty="0">
              <a:solidFill>
                <a:srgbClr val="000000"/>
              </a:solidFill>
              <a:effectLst/>
              <a:uFillTx/>
              <a:latin typeface="Arial Narrow" panose="020B0606020202030204" pitchFamily="34" charset="0"/>
            </a:endParaRPr>
          </a:p>
        </p:txBody>
      </p:sp>
      <p:sp>
        <p:nvSpPr>
          <p:cNvPr id="18" name="Text 6"/>
          <p:cNvSpPr/>
          <p:nvPr/>
        </p:nvSpPr>
        <p:spPr>
          <a:xfrm>
            <a:off x="566639" y="5823720"/>
            <a:ext cx="8777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00" b="1" u="none" strike="noStrike" spc="150" dirty="0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14 SEMAINES  ·  ÉQUIPES DE 3–5  ·  RAPPORT + PRÉSENTATION DE 10 MINUTES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sldNum" idx="4294967295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E9EA388-9A52-4734-BE4B-3A78A6BAD43F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1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87C00331-5FD8-DDE2-C440-8C31A218A6FD}"/>
              </a:ext>
            </a:extLst>
          </p:cNvPr>
          <p:cNvSpPr/>
          <p:nvPr/>
        </p:nvSpPr>
        <p:spPr>
          <a:xfrm>
            <a:off x="567000" y="3429000"/>
            <a:ext cx="7954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500" b="1" dirty="0" err="1">
                <a:solidFill>
                  <a:srgbClr val="00B0F0"/>
                </a:solidFill>
                <a:latin typeface="Noto Sans"/>
                <a:ea typeface="Noto Sans"/>
              </a:rPr>
              <a:t>P</a:t>
            </a:r>
            <a:r>
              <a:rPr lang="en-US" sz="2500" b="1" u="none" strike="noStrike" dirty="0" err="1">
                <a:solidFill>
                  <a:srgbClr val="00B0F0"/>
                </a:solidFill>
                <a:effectLst/>
                <a:uFillTx/>
                <a:latin typeface="Noto Sans"/>
                <a:ea typeface="Noto Sans"/>
              </a:rPr>
              <a:t>rojet</a:t>
            </a:r>
            <a:r>
              <a:rPr lang="en-US" sz="2500" b="1" u="none" strike="noStrike" dirty="0">
                <a:solidFill>
                  <a:srgbClr val="00B0F0"/>
                </a:solidFill>
                <a:effectLst/>
                <a:uFillTx/>
                <a:latin typeface="Noto Sans"/>
                <a:ea typeface="Noto Sans"/>
              </a:rPr>
              <a:t> Guidelines</a:t>
            </a:r>
            <a:endParaRPr lang="en-US" sz="2500" b="0" u="none" strike="noStrike" dirty="0">
              <a:solidFill>
                <a:srgbClr val="00B0F0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3F2D51D-7EDD-A714-0EFB-042C6C08D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134" y="2187769"/>
            <a:ext cx="1515226" cy="151522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98DDF07-EB2C-10B2-3BD6-E135EEB9B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35E0BBD-4036-933A-7F8B-1C729B55F994}"/>
              </a:ext>
            </a:extLst>
          </p:cNvPr>
          <p:cNvSpPr txBox="1"/>
          <p:nvPr/>
        </p:nvSpPr>
        <p:spPr>
          <a:xfrm>
            <a:off x="1095402" y="132254"/>
            <a:ext cx="1568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eBusiness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454640" y="-1791653"/>
            <a:ext cx="3291840" cy="3291840"/>
          </a:xfrm>
          <a:prstGeom prst="ellipse">
            <a:avLst/>
          </a:prstGeom>
          <a:ln w="19050">
            <a:solidFill>
              <a:srgbClr val="C837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886173" y="-1145255"/>
            <a:ext cx="2194560" cy="2194560"/>
          </a:xfrm>
          <a:prstGeom prst="ellipse">
            <a:avLst/>
          </a:prstGeom>
          <a:ln w="19050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+ E-BUSINESS   ·   APPRENTISSAGE PAR PROJET   ·   Made for Tunisia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1843087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CivicPulse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7000" y="1470183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</a:t>
            </a:r>
            <a:r>
              <a:rPr lang="en-US" sz="2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r>
              <a:rPr lang="en-US" sz="2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12 semaines — Brief du projet 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61474" y="2827496"/>
            <a:ext cx="8965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9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équipe peut-elle transformer une grande idée civique en un vrai e-Business ? </a:t>
            </a:r>
            <a:r>
              <a:rPr lang="en-US" sz="2800" i="1" dirty="0" err="1">
                <a:solidFill>
                  <a:srgbClr val="9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</a:t>
            </a:r>
            <a:r>
              <a:rPr lang="en-US" sz="2800" i="1" dirty="0">
                <a:solidFill>
                  <a:srgbClr val="9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i="1" dirty="0" err="1">
                <a:solidFill>
                  <a:srgbClr val="9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</a:t>
            </a:r>
            <a:r>
              <a:rPr lang="en-US" sz="2800" i="1" dirty="0">
                <a:solidFill>
                  <a:srgbClr val="9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recherche et le travail d'équipe pour construire une solution civique tunisienne ciblée et viable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95664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395664" y="5166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55984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55984" y="5166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/ ÉQUIPE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16304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16304" y="5166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76624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76624" y="5166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A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MIN.</a:t>
            </a:r>
            <a:endParaRPr lang="en-US" sz="11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A1FBA5D-FF84-1997-90CC-6346A318E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DB52DEB1-A3DF-DF22-7CAA-36C861F89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9696" y="1820227"/>
            <a:ext cx="1455107" cy="2431733"/>
          </a:xfrm>
          <a:prstGeom prst="rect">
            <a:avLst/>
          </a:prstGeom>
        </p:spPr>
      </p:pic>
      <p:sp>
        <p:nvSpPr>
          <p:cNvPr id="2" name="PlaceHolder 1">
            <a:extLst>
              <a:ext uri="{FF2B5EF4-FFF2-40B4-BE49-F238E27FC236}">
                <a16:creationId xmlns:a16="http://schemas.microsoft.com/office/drawing/2014/main" id="{5BCF0BAD-A566-8788-7D01-A3C8D6C21ABD}"/>
              </a:ext>
            </a:extLst>
          </p:cNvPr>
          <p:cNvSpPr txBox="1">
            <a:spLocks/>
          </p:cNvSpPr>
          <p:nvPr/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800" b="1" u="none" strike="noStrike" kern="1200">
                <a:solidFill>
                  <a:srgbClr val="1A1A1A"/>
                </a:solidFill>
                <a:effectLst/>
                <a:uFillTx/>
                <a:latin typeface="Noto Sans"/>
                <a:ea typeface="Noto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9EA388-9A52-4734-BE4B-3A78A6BAD43F}" type="slidenum">
              <a:rPr lang="fr-FR" smtClean="0"/>
              <a:pPr/>
              <a:t>2</a:t>
            </a:fld>
            <a:endParaRPr lang="fr-FR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6EDB7-AE3A-F16F-7594-8D4859500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37">
            <a:extLst>
              <a:ext uri="{FF2B5EF4-FFF2-40B4-BE49-F238E27FC236}">
                <a16:creationId xmlns:a16="http://schemas.microsoft.com/office/drawing/2014/main" id="{8E1DDDC2-FAC4-5130-A66F-E6F68864E4C9}"/>
              </a:ext>
            </a:extLst>
          </p:cNvPr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970B96F6-DF56-AA3C-D22F-489787EDF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951"/>
            <a:ext cx="12192000" cy="694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68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 MISSION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et </a:t>
            </a:r>
            <a:r>
              <a:rPr lang="en-US" sz="3600" b="1" dirty="0" err="1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PulseAI est une plateforme tunisienne proposée pour l'intelligence civique. Les citoyens contribuent ; </a:t>
            </a:r>
            <a:r>
              <a:rPr lang="en-US" sz="135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aide à classer, regrouper, traduire, résumer et prioriser ; les organisations utilisent l'intelligence résultante pour répondre et mesurer l'impact.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CONTRAINTE D'OR — Votre projet doit être fortement ciblé. Ne construisez pas une plateforme massive et généralisée.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20299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58368" y="34564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7307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module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61488" y="3383280"/>
            <a:ext cx="20299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871216" y="34564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71216" y="37307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problème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74336" y="3383280"/>
            <a:ext cx="20299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84064" y="34564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84064" y="37307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lieu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87184" y="3383280"/>
            <a:ext cx="20299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296912" y="34564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96912" y="37307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400032" y="3383280"/>
            <a:ext cx="20299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509760" y="34564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0" y="37307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utilisateur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DISPONIBLES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489204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291840" y="4892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489204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035040" y="4892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Approvisionnement en eau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78240" y="489204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778240" y="48920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34924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48640" y="5349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534924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291840" y="5349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534924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035040" y="5349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778240" y="534924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8778240" y="5349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FEBACBED-1F4B-5E71-99D6-4C40E7876B85}"/>
              </a:ext>
            </a:extLst>
          </p:cNvPr>
          <p:cNvSpPr/>
          <p:nvPr/>
        </p:nvSpPr>
        <p:spPr>
          <a:xfrm>
            <a:off x="548640" y="5816114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pPr algn="ctr"/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1100" dirty="0"/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F56B3F6C-CDF9-3321-94AA-0B72C6E8B246}"/>
              </a:ext>
            </a:extLst>
          </p:cNvPr>
          <p:cNvSpPr/>
          <p:nvPr/>
        </p:nvSpPr>
        <p:spPr>
          <a:xfrm>
            <a:off x="3292238" y="5816114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pPr algn="ctr"/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100" dirty="0"/>
          </a:p>
        </p:txBody>
      </p:sp>
      <p:sp>
        <p:nvSpPr>
          <p:cNvPr id="45" name="Shape 29">
            <a:extLst>
              <a:ext uri="{FF2B5EF4-FFF2-40B4-BE49-F238E27FC236}">
                <a16:creationId xmlns:a16="http://schemas.microsoft.com/office/drawing/2014/main" id="{677353E9-07B0-1978-3916-9C6EFB31101A}"/>
              </a:ext>
            </a:extLst>
          </p:cNvPr>
          <p:cNvSpPr/>
          <p:nvPr/>
        </p:nvSpPr>
        <p:spPr>
          <a:xfrm>
            <a:off x="6041003" y="5817837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pPr algn="ctr"/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publics</a:t>
            </a:r>
            <a:endParaRPr lang="en-US" sz="1100" dirty="0"/>
          </a:p>
          <a:p>
            <a:endParaRPr lang="fr-FR" dirty="0"/>
          </a:p>
        </p:txBody>
      </p:sp>
      <p:sp>
        <p:nvSpPr>
          <p:cNvPr id="47" name="Shape 29">
            <a:extLst>
              <a:ext uri="{FF2B5EF4-FFF2-40B4-BE49-F238E27FC236}">
                <a16:creationId xmlns:a16="http://schemas.microsoft.com/office/drawing/2014/main" id="{6DE9E484-9F87-B786-003C-A4FDA7C90B88}"/>
              </a:ext>
            </a:extLst>
          </p:cNvPr>
          <p:cNvSpPr/>
          <p:nvPr/>
        </p:nvSpPr>
        <p:spPr>
          <a:xfrm>
            <a:off x="8784601" y="5788152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DEAE0"/>
          </a:solidFill>
          <a:ln/>
        </p:spPr>
        <p:txBody>
          <a:bodyPr/>
          <a:lstStyle/>
          <a:p>
            <a:pPr algn="ctr"/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</a:t>
            </a:r>
            <a:endParaRPr lang="en-US" sz="1100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6C34D6AC-1608-3E9A-5260-64EDC0558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40" name="PlaceHolder 1">
            <a:extLst>
              <a:ext uri="{FF2B5EF4-FFF2-40B4-BE49-F238E27FC236}">
                <a16:creationId xmlns:a16="http://schemas.microsoft.com/office/drawing/2014/main" id="{3D8BADC5-6A45-A759-AAD7-2559AC406628}"/>
              </a:ext>
            </a:extLst>
          </p:cNvPr>
          <p:cNvSpPr txBox="1">
            <a:spLocks/>
          </p:cNvSpPr>
          <p:nvPr/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800" b="1" u="none" strike="noStrike" kern="1200">
                <a:solidFill>
                  <a:srgbClr val="1A1A1A"/>
                </a:solidFill>
                <a:effectLst/>
                <a:uFillTx/>
                <a:latin typeface="Noto Sans"/>
                <a:ea typeface="Noto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9EA388-9A52-4734-BE4B-3A78A6BAD43F}" type="slidenum">
              <a:rPr lang="fr-FR" smtClean="0"/>
              <a:pPr/>
              <a:t>4</a:t>
            </a:fld>
            <a:endParaRPr lang="fr-FR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 MISSION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64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questions </a:t>
            </a:r>
            <a:r>
              <a:rPr lang="en-US" sz="3600" b="1" dirty="0" err="1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auxquelles</a:t>
            </a: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votre projet doit répondre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C837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04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problème et qui en est affecté 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36720" y="1600200"/>
            <a:ext cx="350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465320" y="1828800"/>
            <a:ext cx="502920" cy="502920"/>
          </a:xfrm>
          <a:prstGeom prst="ellipse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4653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65320" y="2468880"/>
            <a:ext cx="304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est-ce important, avec des preuves concrètes 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24800" y="1600200"/>
            <a:ext cx="350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153400" y="1828800"/>
            <a:ext cx="502920" cy="502920"/>
          </a:xfrm>
          <a:prstGeom prst="ellipse">
            <a:avLst/>
          </a:prstGeom>
          <a:solidFill>
            <a:srgbClr val="C837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153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53400" y="2468880"/>
            <a:ext cx="304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</a:t>
            </a:r>
            <a:r>
              <a:rPr lang="en-US" sz="1600" b="1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</a:t>
            </a: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 spécifique crée de la valeur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0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800600"/>
            <a:ext cx="3459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fonctionne le modèle e-business — utilisateurs, sources de revenus, opérations 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36720" y="3931920"/>
            <a:ext cx="350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465320" y="4160520"/>
            <a:ext cx="502920" cy="502920"/>
          </a:xfrm>
          <a:prstGeom prst="ellipse">
            <a:avLst/>
          </a:prstGeom>
          <a:solidFill>
            <a:srgbClr val="C837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4653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65320" y="4800600"/>
            <a:ext cx="304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les tests du prototype vous ont appris 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24800" y="3931920"/>
            <a:ext cx="350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8153400" y="4160520"/>
            <a:ext cx="502920" cy="502920"/>
          </a:xfrm>
          <a:prstGeom prst="ellipse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1534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53400" y="4800600"/>
            <a:ext cx="304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devraient être les prochaines étapes pour un déploiement pilote réel ? Pour mobiliser les utilisateurs 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D3595B60-AA3B-C439-18D8-1E2922141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29" name="PlaceHolder 1">
            <a:extLst>
              <a:ext uri="{FF2B5EF4-FFF2-40B4-BE49-F238E27FC236}">
                <a16:creationId xmlns:a16="http://schemas.microsoft.com/office/drawing/2014/main" id="{19B7420E-72DD-5043-592B-CFF18C747721}"/>
              </a:ext>
            </a:extLst>
          </p:cNvPr>
          <p:cNvSpPr txBox="1">
            <a:spLocks/>
          </p:cNvSpPr>
          <p:nvPr/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800" b="1" u="none" strike="noStrike" kern="1200">
                <a:solidFill>
                  <a:srgbClr val="1A1A1A"/>
                </a:solidFill>
                <a:effectLst/>
                <a:uFillTx/>
                <a:latin typeface="Noto Sans"/>
                <a:ea typeface="Noto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9EA388-9A52-4734-BE4B-3A78A6BAD43F}" type="slidenum">
              <a:rPr lang="fr-FR" smtClean="0"/>
              <a:pPr/>
              <a:t>5</a:t>
            </a:fld>
            <a:endParaRPr lang="fr-FR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AI + APPRENTISSAGE PAR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boucle IA + PBL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76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086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L’IA doit être utilisé comme un outil de travail actif pour la recherche, la critique, l'analyse, la modélisation commerciale, le prototypage, la simulation et l'analyse des risques — jamais comme un substitut à la pensée humaine.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1B1F3B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49808" y="2377440"/>
            <a:ext cx="21465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C8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21465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49808" y="3611880"/>
            <a:ext cx="214655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Étudiez </a:t>
            </a:r>
            <a:r>
              <a:rPr lang="en-US" sz="1600" b="1" dirty="0">
                <a:solidFill>
                  <a:schemeClr val="bg1"/>
                </a:solidFill>
                <a:highlight>
                  <a:srgbClr val="00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 problème rée</a:t>
            </a:r>
            <a:r>
              <a:rPr lang="en-US" sz="1600" dirty="0">
                <a:solidFill>
                  <a:schemeClr val="bg1"/>
                </a:solidFill>
                <a:highlight>
                  <a:srgbClr val="00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utilisant des preuves primaires et secondaires, pas des suppositions</a:t>
            </a:r>
            <a:r>
              <a:rPr lang="en-US" sz="1600" dirty="0">
                <a:solidFill>
                  <a:srgbClr val="C9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97530" y="3383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26130" y="2194560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527298" y="2377440"/>
            <a:ext cx="21465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27298" y="2971800"/>
            <a:ext cx="21465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Collaborer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27298" y="3611880"/>
            <a:ext cx="214655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Collaborez en équipe intégrée et pluridisciplinaire avec des responsabilités claires.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75020" y="3383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03620" y="2194560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04788" y="2377440"/>
            <a:ext cx="21465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77356" y="3017520"/>
            <a:ext cx="23751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et tester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04788" y="3611880"/>
            <a:ext cx="214655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un </a:t>
            </a:r>
            <a:r>
              <a:rPr lang="en-US" sz="1600" dirty="0">
                <a:solidFill>
                  <a:srgbClr val="6B7086"/>
                </a:solidFill>
                <a:highlight>
                  <a:srgbClr val="00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prototype </a:t>
            </a: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fonctionnel, simulez les opérations et recueillez des retours d'utilisateurs réels.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52510" y="3383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881110" y="2194560"/>
            <a:ext cx="2548890" cy="310896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082278" y="2377440"/>
            <a:ext cx="21465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82278" y="3063240"/>
            <a:ext cx="24868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082278" y="3611880"/>
            <a:ext cx="214655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Révisez la solution de manière itérative et décidez des prochaines étapes stratégiques pour le déploiement pilote.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48F7AB71-1DFA-BBDA-A796-1CECF5F15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25" name="PlaceHolder 1">
            <a:extLst>
              <a:ext uri="{FF2B5EF4-FFF2-40B4-BE49-F238E27FC236}">
                <a16:creationId xmlns:a16="http://schemas.microsoft.com/office/drawing/2014/main" id="{94400E3D-09EE-AA04-63F0-23F5D7863D68}"/>
              </a:ext>
            </a:extLst>
          </p:cNvPr>
          <p:cNvSpPr txBox="1">
            <a:spLocks/>
          </p:cNvSpPr>
          <p:nvPr/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800" b="1" u="none" strike="noStrike" kern="1200">
                <a:solidFill>
                  <a:srgbClr val="1A1A1A"/>
                </a:solidFill>
                <a:effectLst/>
                <a:uFillTx/>
                <a:latin typeface="Noto Sans"/>
                <a:ea typeface="Noto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9EA388-9A52-4734-BE4B-3A78A6BAD43F}" type="slidenum">
              <a:rPr lang="fr-FR" smtClean="0"/>
              <a:pPr/>
              <a:t>6</a:t>
            </a:fld>
            <a:endParaRPr lang="fr-FR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AI + APPRENTISSAGE PAR PROJET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de travail 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F3B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N'écrivez jamais des affirmations vagues comme « IA gérera la plateforme. » Décrivez toujours un flux de travail concret :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260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entrantes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3566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6080" y="29260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06324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3657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/ Regrouper / Résumer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3566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66360" y="29260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30352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303520" y="3657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structurée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3566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06640" y="29260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C837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54380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humain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559703" y="40462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0" y="35661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46920" y="292608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9784080" y="3108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829800" y="405765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livrée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4983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sortie générée par </a:t>
            </a:r>
            <a:r>
              <a:rPr lang="en-US" sz="2000" i="1" dirty="0" err="1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</a:t>
            </a:r>
            <a:r>
              <a:rPr lang="en-US" sz="20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votre flux de travail doit </a:t>
            </a:r>
            <a:r>
              <a:rPr lang="en-US" sz="2000" i="1" dirty="0" err="1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avoir</a:t>
            </a:r>
            <a:r>
              <a:rPr lang="en-US" sz="20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point de contrôle humain nommé avant d'atteindre un citoyen, un intervenant ou un partenaire.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45A98E7B-2F09-F156-B53C-50E348664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26" name="PlaceHolder 1">
            <a:extLst>
              <a:ext uri="{FF2B5EF4-FFF2-40B4-BE49-F238E27FC236}">
                <a16:creationId xmlns:a16="http://schemas.microsoft.com/office/drawing/2014/main" id="{88F6E35B-8FB3-DA52-BAD2-92F7864FFFEC}"/>
              </a:ext>
            </a:extLst>
          </p:cNvPr>
          <p:cNvSpPr txBox="1">
            <a:spLocks/>
          </p:cNvSpPr>
          <p:nvPr/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800" b="1" u="none" strike="noStrike" kern="1200">
                <a:solidFill>
                  <a:srgbClr val="1A1A1A"/>
                </a:solidFill>
                <a:effectLst/>
                <a:uFillTx/>
                <a:latin typeface="Noto Sans"/>
                <a:ea typeface="Noto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9EA388-9A52-4734-BE4B-3A78A6BAD43F}" type="slidenum">
              <a:rPr lang="fr-FR" smtClean="0"/>
              <a:pPr/>
              <a:t>7</a:t>
            </a:fld>
            <a:endParaRPr lang="fr-FR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MODÈLE E-BUSINESS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Piliers E-Business &amp; architecture d'engagement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299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029968" cy="73152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l'utilise ? Pour quoi ? Qui paie 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61488" y="1600200"/>
            <a:ext cx="20299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61488" y="1600200"/>
            <a:ext cx="2029968" cy="73152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898648" y="182880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98648" y="22402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temps, coût ou risque est réduit 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74336" y="1600200"/>
            <a:ext cx="20299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974336" y="1600200"/>
            <a:ext cx="2029968" cy="73152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11496" y="182880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111496" y="22402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site web, chatbot, SMS ou tableau de bord.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87184" y="1600200"/>
            <a:ext cx="20299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187184" y="1600200"/>
            <a:ext cx="2029968" cy="73152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324344" y="182880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24344" y="22402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Abonnements, contrats, subventions ou frais d'API.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00032" y="1600200"/>
            <a:ext cx="20299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9400032" y="1600200"/>
            <a:ext cx="2029968" cy="73152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9537192" y="1828800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537192" y="2240280"/>
            <a:ext cx="17556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Vérification, maintenance et support.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10881360" cy="2423160"/>
          </a:xfrm>
          <a:prstGeom prst="roundRect">
            <a:avLst>
              <a:gd name="adj" fmla="val 301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2296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CITOYEN &amp; RÉCOMPENSES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" y="4114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participation dépend des citoyens, les équipes doivent répondre </a:t>
            </a:r>
            <a:r>
              <a:rPr lang="en-US" sz="1250" i="1" dirty="0">
                <a:solidFill>
                  <a:srgbClr val="C9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4526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4526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bénéfice immédiat et pratique pour l'utilisateur 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4983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4983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assurez-vous la rétention et prévenez-vous les entrées fausses / abusives ?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5440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" y="54406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finance les mécanismes de récompense, et quels comportements incitent-ils ?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C65027AE-791B-B3F8-9BFB-4C6D8A20D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34" name="PlaceHolder 1">
            <a:extLst>
              <a:ext uri="{FF2B5EF4-FFF2-40B4-BE49-F238E27FC236}">
                <a16:creationId xmlns:a16="http://schemas.microsoft.com/office/drawing/2014/main" id="{C4FADEFF-7877-4B79-1ABC-2A24BD96DE02}"/>
              </a:ext>
            </a:extLst>
          </p:cNvPr>
          <p:cNvSpPr txBox="1">
            <a:spLocks/>
          </p:cNvSpPr>
          <p:nvPr/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800" b="1" u="none" strike="noStrike" kern="1200">
                <a:solidFill>
                  <a:srgbClr val="1A1A1A"/>
                </a:solidFill>
                <a:effectLst/>
                <a:uFillTx/>
                <a:latin typeface="Noto Sans"/>
                <a:ea typeface="Noto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9EA388-9A52-4734-BE4B-3A78A6BAD43F}" type="slidenum">
              <a:rPr lang="fr-FR" smtClean="0"/>
              <a:pPr/>
              <a:t>8</a:t>
            </a:fld>
            <a:endParaRPr lang="fr-FR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FEUILLE DE ROUTE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feuille de route sur 12 semaines et étapes-clés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8890" cy="420624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502920" cy="502920"/>
          </a:xfrm>
          <a:prstGeom prst="ellipse">
            <a:avLst/>
          </a:prstGeom>
          <a:solidFill>
            <a:srgbClr val="C837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4980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2146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1–3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2146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971800"/>
            <a:ext cx="21465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du problème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3520440"/>
            <a:ext cx="214655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 module, le lieu, l'utilisateur et le problème civique. Cartographiez les canaux actuels et définissez le problème avec précision.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26130" y="1600200"/>
            <a:ext cx="2548890" cy="420624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527298" y="1828800"/>
            <a:ext cx="502920" cy="502920"/>
          </a:xfrm>
          <a:prstGeom prst="ellipse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52729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7298" y="2423160"/>
            <a:ext cx="2146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4–6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7298" y="2697480"/>
            <a:ext cx="2146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7298" y="2971800"/>
            <a:ext cx="21465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27298" y="3520440"/>
            <a:ext cx="214655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Collectez des preuves auprès des parties prenantes. Testez l'urgence, la fréquence et la pertinence institutionnelle. Utilisez AI pour analyser les retours.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03620" y="1600200"/>
            <a:ext cx="2548890" cy="420624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304788" y="18288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30478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4788" y="2423160"/>
            <a:ext cx="2146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7–9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4788" y="2697480"/>
            <a:ext cx="2146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4788" y="2971800"/>
            <a:ext cx="21465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04788" y="3520440"/>
            <a:ext cx="214655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Concevez le flux de travail IA, le modèle e-business, la boucle d'engagement et le plan de déploiement. Construisez un prototype fonctionnel.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81110" y="1600200"/>
            <a:ext cx="2548890" cy="420624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9082278" y="1828800"/>
            <a:ext cx="502920" cy="502920"/>
          </a:xfrm>
          <a:prstGeom prst="ellipse">
            <a:avLst/>
          </a:prstGeom>
          <a:solidFill>
            <a:srgbClr val="8A6D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908227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82278" y="2423160"/>
            <a:ext cx="2146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10–12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082278" y="2697480"/>
            <a:ext cx="2146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82278" y="2971800"/>
            <a:ext cx="21465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finale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082278" y="3520440"/>
            <a:ext cx="214655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Testez le prototype avec de vrais utilisateurs et partenaires. Mesurez l'utilité, la confiance, la </a:t>
            </a:r>
            <a:r>
              <a:rPr lang="en-US" sz="1600" dirty="0" err="1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r>
              <a:rPr lang="en-US" sz="16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 et la préparation au déploiement.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DEF9B186-3BD9-3735-57D7-F8533C496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33" name="PlaceHolder 1">
            <a:extLst>
              <a:ext uri="{FF2B5EF4-FFF2-40B4-BE49-F238E27FC236}">
                <a16:creationId xmlns:a16="http://schemas.microsoft.com/office/drawing/2014/main" id="{DC130F1A-5639-BD19-025D-E9E7FF7A2E47}"/>
              </a:ext>
            </a:extLst>
          </p:cNvPr>
          <p:cNvSpPr txBox="1">
            <a:spLocks/>
          </p:cNvSpPr>
          <p:nvPr/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800" b="1" u="none" strike="noStrike" kern="1200">
                <a:solidFill>
                  <a:srgbClr val="1A1A1A"/>
                </a:solidFill>
                <a:effectLst/>
                <a:uFillTx/>
                <a:latin typeface="Noto Sans"/>
                <a:ea typeface="Noto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9EA388-9A52-4734-BE4B-3A78A6BAD43F}" type="slidenum">
              <a:rPr lang="fr-FR" smtClean="0"/>
              <a:pPr/>
              <a:t>9</a:t>
            </a:fld>
            <a:endParaRPr lang="fr-FR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SOUMISSION FINALE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Soumission finale — 2 livrables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199"/>
            <a:ext cx="5257800" cy="4428067"/>
          </a:xfrm>
          <a:prstGeom prst="roundRect">
            <a:avLst>
              <a:gd name="adj" fmla="val 173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rapport complet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écrit détaillé comprenant 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module choisi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52958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52958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du problème &amp; preuves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858768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85876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d'utilisation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18795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41879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e-business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517136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5171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visuelles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8463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simulation &amp; données de test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175504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51755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d'engagement / de récompenses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504688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55046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finale de déploiement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1600200"/>
            <a:ext cx="5257800" cy="4428066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26364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63640" y="22860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présentation finale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263640" y="2834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pitch exécutif de 10 minutes couvrant 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20040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2004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central &amp; preuves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63640" y="356616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35661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du prototype — parcours utilisateur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63640" y="393192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39319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</a:t>
            </a: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 &amp; contrôle humain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63640" y="429768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42976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récompense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63640" y="466344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46634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d'affaires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63640" y="502920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92240" y="50292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validation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63640" y="539496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92240" y="53949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finale de déploiement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86CC2013-11E6-6C3D-E56B-BAC14E168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43" name="PlaceHolder 1">
            <a:extLst>
              <a:ext uri="{FF2B5EF4-FFF2-40B4-BE49-F238E27FC236}">
                <a16:creationId xmlns:a16="http://schemas.microsoft.com/office/drawing/2014/main" id="{F5FECEE8-3006-A275-EB86-103E4F126090}"/>
              </a:ext>
            </a:extLst>
          </p:cNvPr>
          <p:cNvSpPr txBox="1">
            <a:spLocks/>
          </p:cNvSpPr>
          <p:nvPr/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800" b="1" u="none" strike="noStrike" kern="1200">
                <a:solidFill>
                  <a:srgbClr val="1A1A1A"/>
                </a:solidFill>
                <a:effectLst/>
                <a:uFillTx/>
                <a:latin typeface="Noto Sans"/>
                <a:ea typeface="Noto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9EA388-9A52-4734-BE4B-3A78A6BAD43F}" type="slidenum">
              <a:rPr lang="fr-FR" smtClean="0"/>
              <a:pPr/>
              <a:t>10</a:t>
            </a:fld>
            <a:endParaRPr lang="fr-FR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RÈGLES &amp; JOURNAL IA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 </a:t>
            </a:r>
            <a:r>
              <a:rPr lang="en-US" sz="3600" b="1" dirty="0" err="1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d'utilisation</a:t>
            </a: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IA &amp; règles non négociables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DEA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7556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D'UTILISATION AI OBLIGATOIRE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contribution IA significative, les équipes doivent enregistrer 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2240280" cy="411480"/>
          </a:xfrm>
          <a:prstGeom prst="roundRect">
            <a:avLst>
              <a:gd name="adj" fmla="val 4888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237744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00984" y="2423160"/>
            <a:ext cx="2240280" cy="411480"/>
          </a:xfrm>
          <a:prstGeom prst="roundRect">
            <a:avLst>
              <a:gd name="adj" fmla="val 4888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00984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41264" y="237744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79008" y="2423160"/>
            <a:ext cx="2240280" cy="411480"/>
          </a:xfrm>
          <a:prstGeom prst="roundRect">
            <a:avLst>
              <a:gd name="adj" fmla="val 4888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779008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19288" y="2377440"/>
            <a:ext cx="237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57032" y="2423160"/>
            <a:ext cx="2240280" cy="411480"/>
          </a:xfrm>
          <a:prstGeom prst="roundRect">
            <a:avLst>
              <a:gd name="adj" fmla="val 4888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257032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926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= Accepter / Modifier / Rejeter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NON NÉGOCIABLES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85800" y="36576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657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N'inventez pas de preuves ou d'entretiens.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365760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263640" y="36576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3657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laissez pas </a:t>
            </a:r>
            <a:r>
              <a:rPr lang="en-US" sz="12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vous remplacer !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5800" y="43434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vous contentez pas d'un </a:t>
            </a:r>
            <a:r>
              <a:rPr lang="en-US" sz="12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d'idées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vagues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2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abstraites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434340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263640" y="434340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29400" y="43434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Protégez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l’integrite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travailpar</a:t>
            </a: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étapes claires de vérification humaine.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D6A8C09C-8E9E-E09F-E707-EA5B93FECEE6}"/>
              </a:ext>
            </a:extLst>
          </p:cNvPr>
          <p:cNvSpPr/>
          <p:nvPr/>
        </p:nvSpPr>
        <p:spPr>
          <a:xfrm>
            <a:off x="548640" y="5030525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0126505C-13FE-531A-834E-3A078BC207AF}"/>
              </a:ext>
            </a:extLst>
          </p:cNvPr>
          <p:cNvSpPr/>
          <p:nvPr/>
        </p:nvSpPr>
        <p:spPr>
          <a:xfrm>
            <a:off x="685800" y="5030525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A20885FF-4D5B-A054-8250-BDA1D7036744}"/>
              </a:ext>
            </a:extLst>
          </p:cNvPr>
          <p:cNvSpPr/>
          <p:nvPr/>
        </p:nvSpPr>
        <p:spPr>
          <a:xfrm>
            <a:off x="1051560" y="5030525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vous fiez pas à une soumission de groupe, soumettez votre travail individuellement</a:t>
            </a:r>
            <a:endParaRPr lang="en-US" sz="1200" dirty="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0431AC6E-A211-1B8B-4B08-0B77A66AF11A}"/>
              </a:ext>
            </a:extLst>
          </p:cNvPr>
          <p:cNvSpPr/>
          <p:nvPr/>
        </p:nvSpPr>
        <p:spPr>
          <a:xfrm>
            <a:off x="6126480" y="5030525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C81B2437-AE71-1CB6-D6F8-2EDB76EE76C9}"/>
              </a:ext>
            </a:extLst>
          </p:cNvPr>
          <p:cNvSpPr/>
          <p:nvPr/>
        </p:nvSpPr>
        <p:spPr>
          <a:xfrm>
            <a:off x="6263640" y="5030525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91FFE2D4-C4B4-8AB1-4FC7-2FC408884F4A}"/>
              </a:ext>
            </a:extLst>
          </p:cNvPr>
          <p:cNvSpPr/>
          <p:nvPr/>
        </p:nvSpPr>
        <p:spPr>
          <a:xfrm>
            <a:off x="6629400" y="5030525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dépassez pas les échéances.</a:t>
            </a:r>
            <a:endParaRPr lang="en-US" sz="1200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E878204F-0D26-39CF-7DE2-0604F409EC17}"/>
              </a:ext>
            </a:extLst>
          </p:cNvPr>
          <p:cNvSpPr/>
          <p:nvPr/>
        </p:nvSpPr>
        <p:spPr>
          <a:xfrm>
            <a:off x="548640" y="5716325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44119F05-41A0-2368-8EAF-992875A1DAF6}"/>
              </a:ext>
            </a:extLst>
          </p:cNvPr>
          <p:cNvSpPr/>
          <p:nvPr/>
        </p:nvSpPr>
        <p:spPr>
          <a:xfrm>
            <a:off x="685800" y="5716325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C704DE6D-11E1-4FE6-96DE-18CDE1EFAE01}"/>
              </a:ext>
            </a:extLst>
          </p:cNvPr>
          <p:cNvSpPr/>
          <p:nvPr/>
        </p:nvSpPr>
        <p:spPr>
          <a:xfrm>
            <a:off x="1051560" y="5716325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Respectez les consignes de formatage</a:t>
            </a:r>
            <a:endParaRPr lang="en-US" sz="1200" dirty="0"/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C3948A05-4384-CC67-5F39-DFA655966FA5}"/>
              </a:ext>
            </a:extLst>
          </p:cNvPr>
          <p:cNvSpPr/>
          <p:nvPr/>
        </p:nvSpPr>
        <p:spPr>
          <a:xfrm>
            <a:off x="6126480" y="5716325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5BBD2EBD-7240-0C0A-0A21-223A97B5B70C}"/>
              </a:ext>
            </a:extLst>
          </p:cNvPr>
          <p:cNvSpPr/>
          <p:nvPr/>
        </p:nvSpPr>
        <p:spPr>
          <a:xfrm>
            <a:off x="6263640" y="5716325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0C05358E-4D9D-B6DF-5178-DFF0A59B3C76}"/>
              </a:ext>
            </a:extLst>
          </p:cNvPr>
          <p:cNvSpPr/>
          <p:nvPr/>
        </p:nvSpPr>
        <p:spPr>
          <a:xfrm>
            <a:off x="6629400" y="5716325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soumettez pas par e-mail, seules les soumissions via Blackboard seront prises en compte</a:t>
            </a:r>
            <a:endParaRPr lang="en-US" sz="1200" dirty="0"/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AFE63433-DC74-61DF-FDAD-1B2ECE7AC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33" name="PlaceHolder 1">
            <a:extLst>
              <a:ext uri="{FF2B5EF4-FFF2-40B4-BE49-F238E27FC236}">
                <a16:creationId xmlns:a16="http://schemas.microsoft.com/office/drawing/2014/main" id="{8B960A34-74DC-0EE2-EBE4-9F15ED6E27F0}"/>
              </a:ext>
            </a:extLst>
          </p:cNvPr>
          <p:cNvSpPr txBox="1">
            <a:spLocks/>
          </p:cNvSpPr>
          <p:nvPr/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800" b="1" u="none" strike="noStrike" kern="1200">
                <a:solidFill>
                  <a:srgbClr val="1A1A1A"/>
                </a:solidFill>
                <a:effectLst/>
                <a:uFillTx/>
                <a:latin typeface="Noto Sans"/>
                <a:ea typeface="Noto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9EA388-9A52-4734-BE4B-3A78A6BAD43F}" type="slidenum">
              <a:rPr lang="fr-FR" smtClean="0"/>
              <a:pPr/>
              <a:t>11</a:t>
            </a:fld>
            <a:endParaRPr lang="fr-FR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795420" y="177858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900" b="1" u="none" strike="noStrike" spc="201" dirty="0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AI + JUGEMENT HUMAIN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690635" y="2359440"/>
            <a:ext cx="6299445" cy="196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6000" dirty="0">
                <a:solidFill>
                  <a:srgbClr val="FF0000"/>
                </a:solidFill>
                <a:latin typeface="Noto Serif"/>
                <a:ea typeface="Noto Serif"/>
              </a:rPr>
              <a:t>L’IA</a:t>
            </a:r>
            <a:r>
              <a:rPr lang="en-US" sz="6000" b="0" u="none" strike="noStrike" dirty="0">
                <a:solidFill>
                  <a:srgbClr val="FF0000"/>
                </a:solidFill>
                <a:effectLst/>
                <a:uFillTx/>
                <a:latin typeface="Noto Serif"/>
                <a:ea typeface="Noto Serif"/>
              </a:rPr>
              <a:t> ne doit pas vous remplacer !</a:t>
            </a:r>
            <a:endParaRPr lang="en-US" sz="60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7304485" y="17785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7889845" y="1778580"/>
            <a:ext cx="3611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700" b="1" dirty="0">
                <a:solidFill>
                  <a:srgbClr val="232323"/>
                </a:solidFill>
                <a:latin typeface="Noto Sans"/>
                <a:ea typeface="Noto Sans"/>
              </a:rPr>
              <a:t>IA</a:t>
            </a:r>
            <a:r>
              <a:rPr lang="en-US" sz="1700" b="1" u="none" strike="noStrike" dirty="0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 GÉNÉRATIVE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7889845" y="217170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Idéation, prompts de recherche, personas, textes, concepts et prototypes.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7304485" y="32052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7889845" y="3205260"/>
            <a:ext cx="3611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700" b="1" dirty="0">
                <a:solidFill>
                  <a:srgbClr val="232323"/>
                </a:solidFill>
                <a:latin typeface="Noto Sans"/>
                <a:ea typeface="Noto Sans"/>
              </a:rPr>
              <a:t>IA </a:t>
            </a:r>
            <a:r>
              <a:rPr lang="en-US" sz="1700" b="1" u="none" strike="noStrike" dirty="0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AGENTIQUE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7889845" y="359838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Surveillance des tendances, simulation de scénarios, optimisation et alertes KPI.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7304485" y="463158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7889845" y="4631580"/>
            <a:ext cx="3611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RÔLE HUMAIN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7889845" y="502470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Vérifier les faits, contester les biais, prendre des décisions et assumer la responsabilité éthique.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736355" y="4017228"/>
            <a:ext cx="56689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800" b="0" i="1" u="none" strike="noStrike" dirty="0" err="1">
                <a:solidFill>
                  <a:srgbClr val="00B0F0"/>
                </a:solidFill>
                <a:effectLst/>
                <a:highlight>
                  <a:srgbClr val="FFFF00"/>
                </a:highlight>
                <a:uFillTx/>
                <a:latin typeface="Noto Serif"/>
                <a:ea typeface="Noto Serif"/>
              </a:rPr>
              <a:t>Utilisez</a:t>
            </a:r>
            <a:r>
              <a:rPr lang="en-US" sz="2800" b="0" i="1" u="none" strike="noStrike" dirty="0">
                <a:solidFill>
                  <a:srgbClr val="00B0F0"/>
                </a:solidFill>
                <a:effectLst/>
                <a:highlight>
                  <a:srgbClr val="FFFF00"/>
                </a:highlight>
                <a:uFillTx/>
                <a:latin typeface="Noto Serif"/>
                <a:ea typeface="Noto Serif"/>
              </a:rPr>
              <a:t> </a:t>
            </a:r>
            <a:r>
              <a:rPr lang="en-US" sz="2800" b="0" i="1" u="none" strike="noStrike" dirty="0" err="1">
                <a:solidFill>
                  <a:srgbClr val="00B0F0"/>
                </a:solidFill>
                <a:effectLst/>
                <a:highlight>
                  <a:srgbClr val="FFFF00"/>
                </a:highlight>
                <a:uFillTx/>
                <a:latin typeface="Noto Serif"/>
                <a:ea typeface="Noto Serif"/>
              </a:rPr>
              <a:t>l’IA</a:t>
            </a:r>
            <a:r>
              <a:rPr lang="en-US" sz="2800" b="0" i="1" u="none" strike="noStrike" dirty="0">
                <a:solidFill>
                  <a:srgbClr val="00B0F0"/>
                </a:solidFill>
                <a:effectLst/>
                <a:highlight>
                  <a:srgbClr val="FFFF00"/>
                </a:highlight>
                <a:uFillTx/>
                <a:latin typeface="Noto Serif"/>
                <a:ea typeface="Noto Serif"/>
              </a:rPr>
              <a:t> pour étendre la réflexion — pas pour la remplacer</a:t>
            </a:r>
            <a:r>
              <a:rPr lang="en-US" sz="2800" b="0" i="1" u="none" strike="noStrike" dirty="0">
                <a:solidFill>
                  <a:srgbClr val="00B0F0"/>
                </a:solidFill>
                <a:effectLst/>
                <a:uFillTx/>
                <a:latin typeface="Noto Serif"/>
                <a:ea typeface="Noto Serif"/>
              </a:rPr>
              <a:t>.</a:t>
            </a:r>
            <a:endParaRPr lang="en-US" sz="2800" b="0" u="none" strike="noStrike" dirty="0">
              <a:solidFill>
                <a:srgbClr val="00B0F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sldNum" idx="9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BE9C3DB-C276-4967-A199-9A3C8F54F772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12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767939F-BFD6-8F49-AD94-F38D3FE2C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83E2546-9186-E3EE-E57B-1561AA7D2FB7}"/>
              </a:ext>
            </a:extLst>
          </p:cNvPr>
          <p:cNvSpPr txBox="1"/>
          <p:nvPr/>
        </p:nvSpPr>
        <p:spPr>
          <a:xfrm>
            <a:off x="1095402" y="132254"/>
            <a:ext cx="1568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eBusiness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567001" y="2440938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TRACE DE PREUVES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567000" y="2696898"/>
            <a:ext cx="5688773" cy="23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800" b="0" u="none" strike="noStrike" dirty="0">
                <a:solidFill>
                  <a:srgbClr val="FF0000"/>
                </a:solidFill>
                <a:effectLst/>
                <a:uFillTx/>
                <a:latin typeface="Noto Serif"/>
                <a:ea typeface="Noto Serif"/>
              </a:rPr>
              <a:t>Démontrez votre raisonnement et votre interaction avec </a:t>
            </a:r>
            <a:r>
              <a:rPr lang="en-US" sz="4800" dirty="0" err="1">
                <a:solidFill>
                  <a:srgbClr val="FF0000"/>
                </a:solidFill>
                <a:latin typeface="Noto Serif"/>
                <a:ea typeface="Noto Serif"/>
              </a:rPr>
              <a:t>l’IA</a:t>
            </a:r>
            <a:endParaRPr lang="en-US" sz="48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6707403" y="1627338"/>
            <a:ext cx="5296462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20000"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2700" b="0" i="1" u="none" strike="noStrike" dirty="0">
                <a:effectLst/>
                <a:uFillTx/>
                <a:latin typeface="Noto Serif"/>
                <a:ea typeface="Noto Serif"/>
              </a:rPr>
              <a:t>Un projet </a:t>
            </a:r>
            <a:r>
              <a:rPr lang="en-US" sz="2700" b="0" i="1" u="none" strike="noStrike" dirty="0" err="1">
                <a:effectLst/>
                <a:uFillTx/>
                <a:latin typeface="Noto Serif"/>
                <a:ea typeface="Noto Serif"/>
              </a:rPr>
              <a:t>solide</a:t>
            </a:r>
            <a:r>
              <a:rPr lang="en-US" sz="2700" b="0" i="1" u="none" strike="noStrike" dirty="0">
                <a:effectLst/>
                <a:uFillTx/>
                <a:latin typeface="Noto Serif"/>
                <a:ea typeface="Noto Serif"/>
              </a:rPr>
              <a:t> bien </a:t>
            </a:r>
            <a:r>
              <a:rPr lang="en-US" sz="2700" b="0" i="1" u="none" strike="noStrike" dirty="0" err="1">
                <a:effectLst/>
                <a:uFillTx/>
                <a:latin typeface="Noto Serif"/>
                <a:ea typeface="Noto Serif"/>
              </a:rPr>
              <a:t>document</a:t>
            </a:r>
            <a:r>
              <a:rPr lang="en-US" sz="2700" i="1" dirty="0" err="1">
                <a:latin typeface="Noto Serif"/>
                <a:ea typeface="Noto Serif"/>
              </a:rPr>
              <a:t>é</a:t>
            </a:r>
            <a:r>
              <a:rPr lang="en-US" sz="2700" b="0" i="1" u="none" strike="noStrike" dirty="0">
                <a:effectLst/>
                <a:uFillTx/>
                <a:latin typeface="Noto Serif"/>
                <a:ea typeface="Noto Serif"/>
              </a:rPr>
              <a:t> non seulement la réponse finale, mais </a:t>
            </a:r>
            <a:r>
              <a:rPr lang="en-US" sz="2700" b="0" i="1" u="none" strike="noStrike" dirty="0">
                <a:solidFill>
                  <a:srgbClr val="00B0F0"/>
                </a:solidFill>
                <a:effectLst/>
                <a:uFillTx/>
                <a:latin typeface="Noto Serif"/>
                <a:ea typeface="Noto Serif"/>
              </a:rPr>
              <a:t>comment </a:t>
            </a:r>
            <a:r>
              <a:rPr lang="en-US" sz="2700" b="0" i="1" u="none" strike="noStrike" dirty="0">
                <a:effectLst/>
                <a:uFillTx/>
                <a:latin typeface="Noto Serif"/>
                <a:ea typeface="Noto Serif"/>
              </a:rPr>
              <a:t>la réponse s'est améliorée.</a:t>
            </a:r>
            <a:endParaRPr lang="en-US" sz="27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6800536" y="2957538"/>
            <a:ext cx="1992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Noto Sans"/>
                <a:ea typeface="Noto Sans"/>
              </a:rPr>
              <a:t>JOURNAL DE PROCESSUS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8857936" y="2957538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Tâches hebdomadaires, outils, prompts, résultats, critiques et décisions.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6800536" y="3615978"/>
            <a:ext cx="1992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Noto Sans"/>
                <a:ea typeface="Noto Sans"/>
              </a:rPr>
              <a:t>BIBLIOTHÈQUE DE PROMPTS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8857936" y="3615978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Prompts efficaces, raffinements et schémas réutilisables.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6800536" y="4274418"/>
            <a:ext cx="1992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20000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Noto Sans"/>
                <a:ea typeface="Noto Sans"/>
              </a:rPr>
              <a:t>CARTOGRAPHIE DU FLUX DE TRAVAIL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8857936" y="4274418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Agents, outils, données, points de contrôle humains et dépendances.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6800536" y="4932498"/>
            <a:ext cx="1992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Noto Sans"/>
                <a:ea typeface="Noto Sans"/>
              </a:rPr>
              <a:t>MÉMO DE VALIDATION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8857936" y="4932498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Erreurs, biais, lacunes, corrections et décisions éthiques.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6800536" y="5590938"/>
            <a:ext cx="19929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APPORT HUMAIN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8857936" y="5590938"/>
            <a:ext cx="2971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Où le jugement a amélioré, rejeté ou remplacé la sortie AI.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sldNum" idx="11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3208E3D-00BA-44C9-9FC2-6C7D8DE5E9AC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13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DA4D738-2577-5C04-FABC-C4E9FC77E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3C846E1-992E-A579-7003-43C60143B76E}"/>
              </a:ext>
            </a:extLst>
          </p:cNvPr>
          <p:cNvSpPr txBox="1"/>
          <p:nvPr/>
        </p:nvSpPr>
        <p:spPr>
          <a:xfrm>
            <a:off x="1095402" y="132254"/>
            <a:ext cx="1568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eBusiness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RÈGLES &amp; NOTATION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Critères de notation — 100 points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&amp; preuves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208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Clarté, urgence, données primaires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977640" y="1764792"/>
            <a:ext cx="5852160" cy="310896"/>
          </a:xfrm>
          <a:prstGeom prst="roundRect">
            <a:avLst>
              <a:gd name="adj" fmla="val 50000"/>
            </a:avLst>
          </a:prstGeom>
          <a:solidFill>
            <a:srgbClr val="E3E0D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977640" y="1764792"/>
            <a:ext cx="3511296" cy="31089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05840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Jugement AI, utilisation et documentation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88950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critique, rigueur du flux de travail, journal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77640" y="2633472"/>
            <a:ext cx="5852160" cy="310896"/>
          </a:xfrm>
          <a:prstGeom prst="roundRect">
            <a:avLst>
              <a:gd name="adj" fmla="val 50000"/>
            </a:avLst>
          </a:prstGeom>
          <a:solidFill>
            <a:srgbClr val="E3E0D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058400" y="2560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pts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E-Business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375818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Durabilité, opérations, métriques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77640" y="3502152"/>
            <a:ext cx="5852160" cy="310896"/>
          </a:xfrm>
          <a:prstGeom prst="roundRect">
            <a:avLst>
              <a:gd name="adj" fmla="val 50000"/>
            </a:avLst>
          </a:prstGeom>
          <a:solidFill>
            <a:srgbClr val="E3E0D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977640" y="3502152"/>
            <a:ext cx="4681728" cy="310896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05840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pts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&amp; validation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6268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test, retours utilisateurs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77640" y="4370832"/>
            <a:ext cx="5852160" cy="310896"/>
          </a:xfrm>
          <a:prstGeom prst="roundRect">
            <a:avLst>
              <a:gd name="adj" fmla="val 50000"/>
            </a:avLst>
          </a:prstGeom>
          <a:solidFill>
            <a:srgbClr val="E3E0D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00584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pts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5166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Faisabilité &amp; pitch final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549554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Clarté, professionnalisme, préparation au déploiement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77640" y="5239512"/>
            <a:ext cx="5852160" cy="310896"/>
          </a:xfrm>
          <a:prstGeom prst="roundRect">
            <a:avLst>
              <a:gd name="adj" fmla="val 50000"/>
            </a:avLst>
          </a:prstGeom>
          <a:solidFill>
            <a:srgbClr val="E3E0D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977640" y="5239512"/>
            <a:ext cx="4681728" cy="310896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0058400" y="5166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pts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6003277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22960" y="6003277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92640" y="6003277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pts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88A72C15-122B-9AFC-E798-434638644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36" name="Shape 20">
            <a:extLst>
              <a:ext uri="{FF2B5EF4-FFF2-40B4-BE49-F238E27FC236}">
                <a16:creationId xmlns:a16="http://schemas.microsoft.com/office/drawing/2014/main" id="{BA90A161-8007-9C76-94E4-537771DFD4ED}"/>
              </a:ext>
            </a:extLst>
          </p:cNvPr>
          <p:cNvSpPr/>
          <p:nvPr/>
        </p:nvSpPr>
        <p:spPr>
          <a:xfrm>
            <a:off x="3977640" y="2652241"/>
            <a:ext cx="5852160" cy="310896"/>
          </a:xfrm>
          <a:prstGeom prst="roundRect">
            <a:avLst>
              <a:gd name="adj" fmla="val 50000"/>
            </a:avLst>
          </a:prstGeom>
          <a:solidFill>
            <a:srgbClr val="C837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73315776-CB2F-D3CF-EDFC-A221C83F97D8}"/>
              </a:ext>
            </a:extLst>
          </p:cNvPr>
          <p:cNvSpPr/>
          <p:nvPr/>
        </p:nvSpPr>
        <p:spPr>
          <a:xfrm>
            <a:off x="3977640" y="4361688"/>
            <a:ext cx="4681728" cy="310896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PlaceHolder 1">
            <a:extLst>
              <a:ext uri="{FF2B5EF4-FFF2-40B4-BE49-F238E27FC236}">
                <a16:creationId xmlns:a16="http://schemas.microsoft.com/office/drawing/2014/main" id="{F02583B1-FF73-985D-A32E-796C4B1A2D1E}"/>
              </a:ext>
            </a:extLst>
          </p:cNvPr>
          <p:cNvSpPr txBox="1">
            <a:spLocks/>
          </p:cNvSpPr>
          <p:nvPr/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800" b="1" u="none" strike="noStrike" kern="1200">
                <a:solidFill>
                  <a:srgbClr val="1A1A1A"/>
                </a:solidFill>
                <a:effectLst/>
                <a:uFillTx/>
                <a:latin typeface="Noto Sans"/>
                <a:ea typeface="Noto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9EA388-9A52-4734-BE4B-3A78A6BAD43F}" type="slidenum">
              <a:rPr lang="fr-FR" smtClean="0"/>
              <a:pPr/>
              <a:t>14</a:t>
            </a:fld>
            <a:endParaRPr lang="fr-FR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630720" y="1762695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CE QUE VOUS SOUMETTEZ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630719" y="2018655"/>
            <a:ext cx="6424599" cy="36606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5400" b="0" u="none" strike="noStrike" dirty="0">
                <a:solidFill>
                  <a:srgbClr val="111111"/>
                </a:solidFill>
                <a:effectLst/>
                <a:uFillTx/>
                <a:latin typeface="Noto Serif"/>
                <a:ea typeface="Noto Serif"/>
              </a:rPr>
              <a:t>Le </a:t>
            </a:r>
            <a:r>
              <a:rPr lang="en-US" sz="5400" b="1" u="none" strike="noStrike" dirty="0">
                <a:solidFill>
                  <a:srgbClr val="111111"/>
                </a:solidFill>
                <a:effectLst/>
                <a:highlight>
                  <a:srgbClr val="FFFF00"/>
                </a:highlight>
                <a:uFillTx/>
                <a:latin typeface="Noto Serif"/>
                <a:ea typeface="Noto Serif"/>
              </a:rPr>
              <a:t>flux</a:t>
            </a:r>
            <a:r>
              <a:rPr lang="en-US" sz="5400" b="0" u="none" strike="noStrike" dirty="0">
                <a:solidFill>
                  <a:srgbClr val="111111"/>
                </a:solidFill>
                <a:effectLst/>
                <a:uFillTx/>
                <a:latin typeface="Noto Serif"/>
                <a:ea typeface="Noto Serif"/>
              </a:rPr>
              <a:t> de travail, le </a:t>
            </a:r>
            <a:r>
              <a:rPr lang="en-US" sz="5400" b="1" u="none" strike="noStrike" dirty="0">
                <a:solidFill>
                  <a:srgbClr val="111111"/>
                </a:solidFill>
                <a:effectLst/>
                <a:highlight>
                  <a:srgbClr val="FFFF00"/>
                </a:highlight>
                <a:uFillTx/>
                <a:latin typeface="Noto Serif"/>
                <a:ea typeface="Noto Serif"/>
              </a:rPr>
              <a:t>processus</a:t>
            </a:r>
            <a:r>
              <a:rPr lang="en-US" sz="5400" b="0" u="none" strike="noStrike" dirty="0">
                <a:solidFill>
                  <a:srgbClr val="111111"/>
                </a:solidFill>
                <a:effectLst/>
                <a:uFillTx/>
                <a:latin typeface="Noto Serif"/>
                <a:ea typeface="Noto Serif"/>
              </a:rPr>
              <a:t> de </a:t>
            </a:r>
            <a:r>
              <a:rPr lang="en-US" sz="5400" b="1" u="none" strike="noStrike" dirty="0">
                <a:solidFill>
                  <a:srgbClr val="111111"/>
                </a:solidFill>
                <a:effectLst/>
                <a:uFillTx/>
                <a:latin typeface="Noto Serif"/>
                <a:ea typeface="Noto Serif"/>
              </a:rPr>
              <a:t>raisonnement</a:t>
            </a:r>
            <a:r>
              <a:rPr lang="en-US" sz="5400" b="0" u="none" strike="noStrike" dirty="0">
                <a:solidFill>
                  <a:srgbClr val="111111"/>
                </a:solidFill>
                <a:effectLst/>
                <a:uFillTx/>
                <a:latin typeface="Noto Serif"/>
                <a:ea typeface="Noto Serif"/>
              </a:rPr>
              <a:t> deviennent la preuve du succès</a:t>
            </a:r>
            <a:endParaRPr lang="en-US" sz="5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7394991" y="1413560"/>
            <a:ext cx="738231" cy="2952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800" b="1" u="none" strike="noStrike" dirty="0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01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8053431" y="1201723"/>
            <a:ext cx="3977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00B0F0"/>
                </a:solidFill>
                <a:effectLst/>
                <a:uFillTx/>
                <a:latin typeface="Noto Sans"/>
                <a:ea typeface="Noto Sans"/>
              </a:rPr>
              <a:t>RAPPORT DE PROJET</a:t>
            </a:r>
            <a:endParaRPr lang="en-US" sz="2000" b="0" u="none" strike="noStrike" dirty="0">
              <a:solidFill>
                <a:srgbClr val="00B0F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8053431" y="1723003"/>
            <a:ext cx="37486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Recherche, stratégie, mise en œuvre, analyses, enseignements, références.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7394991" y="2710483"/>
            <a:ext cx="438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8053431" y="2786938"/>
            <a:ext cx="3977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232323"/>
                </a:solidFill>
                <a:effectLst/>
                <a:uFillTx/>
                <a:latin typeface="Arial Narrow" panose="020B0606020202030204" pitchFamily="34" charset="0"/>
                <a:ea typeface="Noto Sans"/>
              </a:rPr>
              <a:t>PORTFOLIO DU PROCESSUS </a:t>
            </a:r>
            <a:r>
              <a:rPr lang="en-US" sz="2000" b="1" dirty="0">
                <a:solidFill>
                  <a:srgbClr val="232323"/>
                </a:solidFill>
                <a:latin typeface="Arial Narrow" panose="020B0606020202030204" pitchFamily="34" charset="0"/>
                <a:ea typeface="Noto Sans"/>
              </a:rPr>
              <a:t>IA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 Narrow" panose="020B0606020202030204" pitchFamily="34" charset="0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8053431" y="3231763"/>
            <a:ext cx="37486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Prompts, résultats, critiques, flux de travail, transparence et éthique.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7390892" y="4374049"/>
            <a:ext cx="74233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800" b="1" u="none" strike="noStrike" dirty="0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02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8053431" y="4219243"/>
            <a:ext cx="3977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00B0F0"/>
                </a:solidFill>
                <a:effectLst/>
                <a:uFillTx/>
                <a:latin typeface="Noto Sans"/>
                <a:ea typeface="Noto Sans"/>
              </a:rPr>
              <a:t>PITCH FINAL</a:t>
            </a:r>
            <a:endParaRPr lang="en-US" sz="2000" b="0" u="none" strike="noStrike" dirty="0">
              <a:solidFill>
                <a:srgbClr val="00B0F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8053431" y="4740523"/>
            <a:ext cx="37486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Environ 10 diapositives concises en 10 minutes, avec une démo ou simulation et leçons apprises.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7394991" y="5801083"/>
            <a:ext cx="4572000" cy="360"/>
          </a:xfrm>
          <a:prstGeom prst="line">
            <a:avLst/>
          </a:prstGeom>
          <a:ln w="1524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7394991" y="5983963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Chaque</a:t>
            </a:r>
            <a:r>
              <a:rPr lang="en-US" sz="1200" b="1" u="none" strike="noStrike" dirty="0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 </a:t>
            </a:r>
            <a:r>
              <a:rPr lang="en-US" sz="1200" b="1" u="none" strike="noStrike" dirty="0" err="1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étudiant</a:t>
            </a:r>
            <a:r>
              <a:rPr lang="en-US" sz="1200" b="1" u="none" strike="noStrike" dirty="0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 </a:t>
            </a:r>
            <a:r>
              <a:rPr lang="en-US" sz="1200" b="1" u="none" strike="noStrike" dirty="0" err="1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soumet</a:t>
            </a:r>
            <a:r>
              <a:rPr lang="en-US" sz="1200" b="1" u="none" strike="noStrike" dirty="0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 les deux </a:t>
            </a:r>
            <a:r>
              <a:rPr lang="en-US" sz="1200" b="1" u="none" strike="noStrike" dirty="0" err="1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fichiers</a:t>
            </a:r>
            <a:r>
              <a:rPr lang="en-US" sz="1200" b="1" u="none" strike="noStrike" dirty="0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: Un Rapport </a:t>
            </a:r>
            <a:r>
              <a:rPr lang="en-US" sz="1200" b="1" u="none" strike="noStrike" dirty="0" err="1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en</a:t>
            </a:r>
            <a:r>
              <a:rPr lang="en-US" sz="1200" b="1" u="none" strike="noStrike" dirty="0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 format PDF et </a:t>
            </a:r>
            <a:r>
              <a:rPr lang="en-US" sz="1200" b="1" u="none" strike="noStrike" dirty="0" err="1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une</a:t>
            </a:r>
            <a:r>
              <a:rPr lang="en-US" sz="1200" b="1" u="none" strike="noStrike" dirty="0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 presentation </a:t>
            </a:r>
            <a:r>
              <a:rPr lang="en-US" sz="1200" b="1" u="none" strike="noStrike" dirty="0" err="1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en</a:t>
            </a:r>
            <a:r>
              <a:rPr lang="en-US" sz="1200" b="1" u="none" strike="noStrike" dirty="0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 format PPT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sldNum" idx="12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8005DCF-8970-4069-A034-E65AB0B43575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15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2C9410D-89C2-DA20-DE99-25AD8CA99701}"/>
              </a:ext>
            </a:extLst>
          </p:cNvPr>
          <p:cNvSpPr/>
          <p:nvPr/>
        </p:nvSpPr>
        <p:spPr>
          <a:xfrm>
            <a:off x="9032834" y="2148546"/>
            <a:ext cx="1873763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+</a:t>
            </a:r>
            <a:r>
              <a:rPr lang="en-US" sz="1600" b="1" u="none" strike="noStrike" dirty="0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y compris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02C6A0F-45F2-4428-C3F6-A5B94F2E3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A56C302-F908-D1A3-471D-A438C7EA39FD}"/>
              </a:ext>
            </a:extLst>
          </p:cNvPr>
          <p:cNvSpPr txBox="1"/>
          <p:nvPr/>
        </p:nvSpPr>
        <p:spPr>
          <a:xfrm>
            <a:off x="1095402" y="132254"/>
            <a:ext cx="1568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eBusiness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544320" y="95598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900" b="1" u="none" strike="noStrike" spc="201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RÈGLES DE TRAVAIL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544320" y="1257660"/>
            <a:ext cx="393156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400" b="1" u="none" strike="noStrike" dirty="0">
                <a:solidFill>
                  <a:srgbClr val="FF0000"/>
                </a:solidFill>
                <a:effectLst/>
                <a:uFillTx/>
                <a:latin typeface="Noto Serif"/>
                <a:ea typeface="Noto Serif"/>
              </a:rPr>
              <a:t>3—5</a:t>
            </a:r>
            <a:endParaRPr lang="en-US" sz="104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3452438" y="1376460"/>
            <a:ext cx="374868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900" b="0" u="none" strike="noStrike" dirty="0">
                <a:solidFill>
                  <a:srgbClr val="232323"/>
                </a:solidFill>
                <a:effectLst/>
                <a:uFillTx/>
                <a:latin typeface="Noto Serif"/>
                <a:ea typeface="Noto Serif"/>
              </a:rPr>
              <a:t>ÉTUDIANTS</a:t>
            </a:r>
            <a:endParaRPr lang="en-US" sz="3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900" b="0" u="none" strike="noStrike" dirty="0">
                <a:solidFill>
                  <a:srgbClr val="232323"/>
                </a:solidFill>
                <a:effectLst/>
                <a:uFillTx/>
                <a:latin typeface="Noto Serif"/>
                <a:ea typeface="Noto Serif"/>
              </a:rPr>
              <a:t>PAR ÉQUIPE</a:t>
            </a:r>
            <a:endParaRPr lang="en-US" sz="3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567000" y="297180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1097280" y="297180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COORDONNER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3173040" y="297180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Nommez un représentant de l'équipe.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566640" y="3593520"/>
            <a:ext cx="5212080" cy="360"/>
          </a:xfrm>
          <a:prstGeom prst="line">
            <a:avLst/>
          </a:prstGeom>
          <a:ln w="10160">
            <a:solidFill>
              <a:srgbClr val="E9E9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567000" y="38494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1097280" y="384948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S'ENGAGER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3173040" y="384948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Finalisez les groupes avant la semaine 3. Aucun changement autorisé ensuite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566640" y="4471200"/>
            <a:ext cx="5212080" cy="360"/>
          </a:xfrm>
          <a:prstGeom prst="line">
            <a:avLst/>
          </a:prstGeom>
          <a:ln w="10160">
            <a:solidFill>
              <a:srgbClr val="E9E9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567000" y="47275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1097280" y="472752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CONTRIBUER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3173040" y="472752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Enregistrez les tâches et la présence de chaque membre.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4"/>
          <p:cNvSpPr/>
          <p:nvPr/>
        </p:nvSpPr>
        <p:spPr>
          <a:xfrm>
            <a:off x="566640" y="5349240"/>
            <a:ext cx="5212080" cy="360"/>
          </a:xfrm>
          <a:prstGeom prst="line">
            <a:avLst/>
          </a:prstGeom>
          <a:ln w="10160">
            <a:solidFill>
              <a:srgbClr val="E9E9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6099120" y="297180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6629400" y="297180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PRÉSENTER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8705160" y="297180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Limitez le pitch final à 10 minutes.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8"/>
          <p:cNvSpPr/>
          <p:nvPr/>
        </p:nvSpPr>
        <p:spPr>
          <a:xfrm>
            <a:off x="6098760" y="3593520"/>
            <a:ext cx="5212080" cy="360"/>
          </a:xfrm>
          <a:prstGeom prst="line">
            <a:avLst/>
          </a:prstGeom>
          <a:ln w="10160">
            <a:solidFill>
              <a:srgbClr val="E9E9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9"/>
          <p:cNvSpPr/>
          <p:nvPr/>
        </p:nvSpPr>
        <p:spPr>
          <a:xfrm>
            <a:off x="6099120" y="384948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0"/>
          <p:cNvSpPr/>
          <p:nvPr/>
        </p:nvSpPr>
        <p:spPr>
          <a:xfrm>
            <a:off x="6629400" y="384948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SOUMETTRE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8705160" y="384948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FF0000"/>
                </a:solidFill>
                <a:effectLst/>
                <a:uFillTx/>
                <a:latin typeface="Noto Sans"/>
                <a:ea typeface="Noto Sans"/>
              </a:rPr>
              <a:t>Chaque étudiant télécharge le rapport final et la présentation.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2"/>
          <p:cNvSpPr/>
          <p:nvPr/>
        </p:nvSpPr>
        <p:spPr>
          <a:xfrm>
            <a:off x="6098760" y="4471200"/>
            <a:ext cx="5212080" cy="360"/>
          </a:xfrm>
          <a:prstGeom prst="line">
            <a:avLst/>
          </a:prstGeom>
          <a:ln w="10160">
            <a:solidFill>
              <a:srgbClr val="E9E9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sldNum" idx="13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032D02D-72BB-484F-88C9-93CB0D7A0CF5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16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BF783B37-5F52-0372-7D11-C4CF6813A8CE}"/>
              </a:ext>
            </a:extLst>
          </p:cNvPr>
          <p:cNvSpPr/>
          <p:nvPr/>
        </p:nvSpPr>
        <p:spPr>
          <a:xfrm>
            <a:off x="6099120" y="47275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D62828"/>
                </a:solidFill>
                <a:effectLst/>
                <a:uFillTx/>
                <a:latin typeface="Noto Sans"/>
                <a:ea typeface="Noto Sans"/>
              </a:rPr>
              <a:t>03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EBD1EECB-5BD7-8C10-4B1F-0DB8183ED6FC}"/>
              </a:ext>
            </a:extLst>
          </p:cNvPr>
          <p:cNvSpPr/>
          <p:nvPr/>
        </p:nvSpPr>
        <p:spPr>
          <a:xfrm>
            <a:off x="6629400" y="472752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700" b="1" dirty="0">
                <a:solidFill>
                  <a:srgbClr val="232323"/>
                </a:solidFill>
                <a:latin typeface="Noto Sans"/>
                <a:ea typeface="Noto Sans"/>
              </a:rPr>
              <a:t>RESPECT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E77E6150-9FBA-0927-A6B5-506A5494405D}"/>
              </a:ext>
            </a:extLst>
          </p:cNvPr>
          <p:cNvSpPr/>
          <p:nvPr/>
        </p:nvSpPr>
        <p:spPr>
          <a:xfrm>
            <a:off x="8705160" y="472752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Respectez les règles de soumission, le format, les échéances, etc.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B284508A-2782-144A-F822-BF460BE31175}"/>
              </a:ext>
            </a:extLst>
          </p:cNvPr>
          <p:cNvSpPr/>
          <p:nvPr/>
        </p:nvSpPr>
        <p:spPr>
          <a:xfrm>
            <a:off x="6098760" y="5349240"/>
            <a:ext cx="5212080" cy="360"/>
          </a:xfrm>
          <a:prstGeom prst="line">
            <a:avLst/>
          </a:prstGeom>
          <a:ln w="10160">
            <a:solidFill>
              <a:srgbClr val="E9E9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3DCCC6F-3BAB-1ACA-060C-EA2FD653D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2D06E1E-525A-66AC-3818-E00F2C2CE2B4}"/>
              </a:ext>
            </a:extLst>
          </p:cNvPr>
          <p:cNvSpPr txBox="1"/>
          <p:nvPr/>
        </p:nvSpPr>
        <p:spPr>
          <a:xfrm>
            <a:off x="1095402" y="132254"/>
            <a:ext cx="1568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eBusiness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RÈGLES DE TRAVAIL &amp; FORMAT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Règles de travail, format &amp; référencement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/>
              <a:t>Veuillez respecter les règles suivantes de travail en équipe et de formatage durant toutes les phases du projet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TRAVAIL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cs typeface="Calibri" pitchFamily="34" charset="-120"/>
              </a:rPr>
              <a:t>Les points de contrôle ne sont pas annoncés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163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vérification de l'avancement de votre projet peut avoir lieu à tout moment pendant les cours.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hebdomadaires sur l'avancement des travaux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564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groupe doit être prêt à chaque cours à rendre compte et nous informer de ses progrès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Responsabilités</a:t>
            </a: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éthiques lors de l'utilisation </a:t>
            </a:r>
            <a:r>
              <a:rPr lang="en-US" sz="1200" b="1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d'outils</a:t>
            </a: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Enregistrez et documentez vos entrées IA, résultats, valeur ajoutée et interactions dès le départ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cs typeface="Calibri" pitchFamily="34" charset="-120"/>
              </a:rPr>
              <a:t>Appliquer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7365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Appliquez ce que vous avez appris pendant le cours à votre projet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 de groupe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3766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Gérez la dynamique de groupe de manière responsable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96596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2636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8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RÉFÉRENCEMENT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5603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5603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: Arial Narrow, taille 12 pour le corps du texte, 16–18 pour les titres.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12724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1272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: Arial Narrow, taille 20–22 pour le corps, 32+ pour les titres.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694176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6941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de garde du rapport et de la présentation sont standardisées.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426110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2611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de référencement : APA (American Psychological Association).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482803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8280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limite de pages pour le rapport — la profondeur et les preuves comptent plus que la longueur.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C8D196E4-7DB5-49E0-2E9C-98C74A88C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30" name="PlaceHolder 1">
            <a:extLst>
              <a:ext uri="{FF2B5EF4-FFF2-40B4-BE49-F238E27FC236}">
                <a16:creationId xmlns:a16="http://schemas.microsoft.com/office/drawing/2014/main" id="{2DCF5465-A488-2CFA-DA72-3D2FDF2C5E0D}"/>
              </a:ext>
            </a:extLst>
          </p:cNvPr>
          <p:cNvSpPr txBox="1">
            <a:spLocks/>
          </p:cNvSpPr>
          <p:nvPr/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800" b="1" u="none" strike="noStrike" kern="1200">
                <a:solidFill>
                  <a:srgbClr val="1A1A1A"/>
                </a:solidFill>
                <a:effectLst/>
                <a:uFillTx/>
                <a:latin typeface="Noto Sans"/>
                <a:ea typeface="Noto Sans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9EA388-9A52-4734-BE4B-3A78A6BAD43F}" type="slidenum">
              <a:rPr lang="fr-FR" smtClean="0"/>
              <a:pPr/>
              <a:t>17</a:t>
            </a:fld>
            <a:endParaRPr lang="fr-FR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6292-15CF-52CB-DF34-1B17AFCD0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>
            <a:extLst>
              <a:ext uri="{FF2B5EF4-FFF2-40B4-BE49-F238E27FC236}">
                <a16:creationId xmlns:a16="http://schemas.microsoft.com/office/drawing/2014/main" id="{3BCB4371-CA58-D66E-2E00-4F78E03375CA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90C3204-4109-4037-91BF-FF34F22F842B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18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BCC64CBA-11AB-2B8F-4D4A-0C604C6FA628}"/>
              </a:ext>
            </a:extLst>
          </p:cNvPr>
          <p:cNvSpPr txBox="1"/>
          <p:nvPr/>
        </p:nvSpPr>
        <p:spPr>
          <a:xfrm>
            <a:off x="5565883" y="5161673"/>
            <a:ext cx="4290752" cy="5078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Arial Narrow" panose="020B0606020202030204" pitchFamily="34" charset="0"/>
              </a:rPr>
              <a:t>Pour le rapport, utilisez Arial Narrow taille 12 pour le texte et taille 16 à 18 pour les titres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BF474A9-3078-4AA1-A061-7853C5AADFF2}"/>
              </a:ext>
            </a:extLst>
          </p:cNvPr>
          <p:cNvSpPr txBox="1"/>
          <p:nvPr/>
        </p:nvSpPr>
        <p:spPr>
          <a:xfrm>
            <a:off x="5565883" y="1783594"/>
            <a:ext cx="4290752" cy="5078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Arial Narrow" panose="020B0606020202030204" pitchFamily="34" charset="0"/>
              </a:rPr>
              <a:t>Pour la présentation, utilisez Arial Narrow 20-22 pour le texte et 32 et plus pour les titres)</a:t>
            </a:r>
          </a:p>
        </p:txBody>
      </p:sp>
      <p:pic>
        <p:nvPicPr>
          <p:cNvPr id="7" name="Picture 2" descr="Red Arrow png download - 1600*1600 - Free Transparent Arrow png Download. -  CleanPNG / KissPNG">
            <a:extLst>
              <a:ext uri="{FF2B5EF4-FFF2-40B4-BE49-F238E27FC236}">
                <a16:creationId xmlns:a16="http://schemas.microsoft.com/office/drawing/2014/main" id="{40AC74EA-25B0-2674-F2D3-190072221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00" b="90000" l="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453" y="4941235"/>
            <a:ext cx="890840" cy="57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d Arrow png download - 1600*1600 - Free Transparent Arrow png Download. -  CleanPNG / KissPNG">
            <a:extLst>
              <a:ext uri="{FF2B5EF4-FFF2-40B4-BE49-F238E27FC236}">
                <a16:creationId xmlns:a16="http://schemas.microsoft.com/office/drawing/2014/main" id="{A093FEBB-ED85-C7AB-2ED2-75250E374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00" b="90000" l="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284186">
            <a:off x="9301252" y="2126669"/>
            <a:ext cx="890840" cy="57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BE23C994-7276-0879-A6FC-850D7E29C6A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333" t="27162" r="13007" b="13085"/>
          <a:stretch/>
        </p:blipFill>
        <p:spPr>
          <a:xfrm>
            <a:off x="5418624" y="2585614"/>
            <a:ext cx="4251410" cy="2355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">
            <a:extLst>
              <a:ext uri="{FF2B5EF4-FFF2-40B4-BE49-F238E27FC236}">
                <a16:creationId xmlns:a16="http://schemas.microsoft.com/office/drawing/2014/main" id="{71E51AF6-BCC5-7047-A18B-D257BD56F19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2803" t="18462" r="37047" b="11176"/>
          <a:stretch/>
        </p:blipFill>
        <p:spPr>
          <a:xfrm>
            <a:off x="1780309" y="1736956"/>
            <a:ext cx="3089564" cy="3915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3">
            <a:extLst>
              <a:ext uri="{FF2B5EF4-FFF2-40B4-BE49-F238E27FC236}">
                <a16:creationId xmlns:a16="http://schemas.microsoft.com/office/drawing/2014/main" id="{7CACBBF1-CD02-69C0-B651-A14B56E81253}"/>
              </a:ext>
            </a:extLst>
          </p:cNvPr>
          <p:cNvSpPr txBox="1"/>
          <p:nvPr/>
        </p:nvSpPr>
        <p:spPr>
          <a:xfrm>
            <a:off x="6561667" y="3857638"/>
            <a:ext cx="189081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6600"/>
                </a:solidFill>
              </a:rPr>
              <a:t>Marketing numérique</a:t>
            </a: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D94D352-8A2E-5F46-99F1-158B39777DFD}"/>
              </a:ext>
            </a:extLst>
          </p:cNvPr>
          <p:cNvSpPr/>
          <p:nvPr/>
        </p:nvSpPr>
        <p:spPr>
          <a:xfrm>
            <a:off x="567000" y="640036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7200" b="1" u="none" strike="noStrike" dirty="0">
                <a:solidFill>
                  <a:srgbClr val="232323"/>
                </a:solidFill>
                <a:effectLst/>
                <a:uFillTx/>
                <a:latin typeface="Noto Serif"/>
                <a:ea typeface="Noto Serif"/>
              </a:rPr>
              <a:t>Le format </a:t>
            </a:r>
            <a:endParaRPr lang="en-US" sz="7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972CE29-F479-F99B-3B4A-1CE44B0FB0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B886351-1AC9-5AD7-0E6D-E51C40E1D124}"/>
              </a:ext>
            </a:extLst>
          </p:cNvPr>
          <p:cNvSpPr txBox="1"/>
          <p:nvPr/>
        </p:nvSpPr>
        <p:spPr>
          <a:xfrm>
            <a:off x="1095402" y="132254"/>
            <a:ext cx="1568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eBusiness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6D19B04-54E6-272E-A03E-2CDEBB30330A}"/>
              </a:ext>
            </a:extLst>
          </p:cNvPr>
          <p:cNvSpPr txBox="1"/>
          <p:nvPr/>
        </p:nvSpPr>
        <p:spPr>
          <a:xfrm>
            <a:off x="2303400" y="3259723"/>
            <a:ext cx="210537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/>
              <a:t>Projet eBusiness…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D05E15D-A411-E40E-FEB2-8CF9D43297DA}"/>
              </a:ext>
            </a:extLst>
          </p:cNvPr>
          <p:cNvSpPr txBox="1"/>
          <p:nvPr/>
        </p:nvSpPr>
        <p:spPr>
          <a:xfrm>
            <a:off x="6454386" y="3763424"/>
            <a:ext cx="210537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/>
              <a:t>eBusiness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3415116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805F1-EDA6-BA66-4099-A2A36124C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>
            <a:extLst>
              <a:ext uri="{FF2B5EF4-FFF2-40B4-BE49-F238E27FC236}">
                <a16:creationId xmlns:a16="http://schemas.microsoft.com/office/drawing/2014/main" id="{0E59C83B-8BD3-A2DF-F8CA-1916157AAA16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90C3204-4109-4037-91BF-FF34F22F842B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19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3B29A4B4-C672-2717-9432-5357F352D7ED}"/>
              </a:ext>
            </a:extLst>
          </p:cNvPr>
          <p:cNvSpPr/>
          <p:nvPr/>
        </p:nvSpPr>
        <p:spPr>
          <a:xfrm>
            <a:off x="567000" y="640036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7200" b="1" u="none" strike="noStrike" dirty="0">
                <a:solidFill>
                  <a:srgbClr val="232323"/>
                </a:solidFill>
                <a:effectLst/>
                <a:uFillTx/>
                <a:latin typeface="Noto Serif"/>
                <a:ea typeface="Noto Serif"/>
              </a:rPr>
              <a:t>Le format </a:t>
            </a:r>
            <a:endParaRPr lang="en-US" sz="7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7A9AE051-F411-3508-986A-1C9978703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169" y="1712630"/>
            <a:ext cx="9089924" cy="450533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60E9B4B-283A-844B-6C28-C81582C526D6}"/>
              </a:ext>
            </a:extLst>
          </p:cNvPr>
          <p:cNvSpPr txBox="1"/>
          <p:nvPr/>
        </p:nvSpPr>
        <p:spPr>
          <a:xfrm>
            <a:off x="1095402" y="132254"/>
            <a:ext cx="1568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eBusiness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FFC8A8-77CA-E28A-1A4A-0751DA17CB83}"/>
              </a:ext>
            </a:extLst>
          </p:cNvPr>
          <p:cNvSpPr txBox="1"/>
          <p:nvPr/>
        </p:nvSpPr>
        <p:spPr>
          <a:xfrm>
            <a:off x="2454474" y="3429000"/>
            <a:ext cx="210537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/>
              <a:t>Projet eBusiness…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34744A4-A133-78E6-24D1-3ECFC6893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08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7F041B8-20DE-1041-553A-8C13084C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2522237" y="1926041"/>
            <a:ext cx="7428998" cy="1903065"/>
          </a:xfrm>
          <a:custGeom>
            <a:avLst/>
            <a:gdLst/>
            <a:ahLst/>
            <a:cxnLst/>
            <a:rect l="l" t="t" r="r" b="b"/>
            <a:pathLst>
              <a:path w="4366260" h="585469">
                <a:moveTo>
                  <a:pt x="4366260" y="0"/>
                </a:moveTo>
                <a:lnTo>
                  <a:pt x="0" y="0"/>
                </a:lnTo>
                <a:lnTo>
                  <a:pt x="0" y="585216"/>
                </a:lnTo>
                <a:lnTo>
                  <a:pt x="4366260" y="585216"/>
                </a:lnTo>
                <a:lnTo>
                  <a:pt x="4366260" y="0"/>
                </a:lnTo>
                <a:close/>
              </a:path>
            </a:pathLst>
          </a:custGeom>
          <a:solidFill>
            <a:srgbClr val="000000">
              <a:alpha val="67057"/>
            </a:srgbClr>
          </a:solidFill>
        </p:spPr>
        <p:txBody>
          <a:bodyPr wrap="square" lIns="0" tIns="0" rIns="0" bIns="0" rtlCol="0"/>
          <a:lstStyle/>
          <a:p>
            <a:pPr defTabSz="1030140"/>
            <a:endParaRPr sz="2028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45825" y="2096540"/>
            <a:ext cx="7360732" cy="429945"/>
          </a:xfrm>
          <a:prstGeom prst="rect">
            <a:avLst/>
          </a:prstGeom>
        </p:spPr>
        <p:txBody>
          <a:bodyPr vert="horz" wrap="square" lIns="0" tIns="14307" rIns="0" bIns="0" rtlCol="0" anchor="ctr">
            <a:spAutoFit/>
          </a:bodyPr>
          <a:lstStyle/>
          <a:p>
            <a:pPr marL="14308" algn="ctr">
              <a:spcBef>
                <a:spcPts val="113"/>
              </a:spcBef>
            </a:pPr>
            <a:r>
              <a:rPr lang="en-US" sz="2700" b="1" spc="-6" dirty="0">
                <a:solidFill>
                  <a:srgbClr val="FFFF00"/>
                </a:solidFill>
              </a:rPr>
              <a:t>Projet eBusiness :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8603" l="435" r="9837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2277" y="2994158"/>
            <a:ext cx="591458" cy="460309"/>
          </a:xfrm>
          <a:prstGeom prst="rect">
            <a:avLst/>
          </a:prstGeom>
        </p:spPr>
      </p:pic>
      <p:pic>
        <p:nvPicPr>
          <p:cNvPr id="7" name="Picture 2" descr="Faq - Free communications icons">
            <a:extLst>
              <a:ext uri="{FF2B5EF4-FFF2-40B4-BE49-F238E27FC236}">
                <a16:creationId xmlns:a16="http://schemas.microsoft.com/office/drawing/2014/main" id="{4AC36D3A-70F8-64D3-2EC2-C1D14E41D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141" y="2526485"/>
            <a:ext cx="1223717" cy="1223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928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05EE2-C5EB-F46F-13F1-11BB289A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>
            <a:extLst>
              <a:ext uri="{FF2B5EF4-FFF2-40B4-BE49-F238E27FC236}">
                <a16:creationId xmlns:a16="http://schemas.microsoft.com/office/drawing/2014/main" id="{C5E86147-D534-969D-2B45-00D038CC3A73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90C3204-4109-4037-91BF-FF34F22F842B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21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5756E6F4-728B-3DF9-A013-FEA26A1A4F04}"/>
              </a:ext>
            </a:extLst>
          </p:cNvPr>
          <p:cNvSpPr/>
          <p:nvPr/>
        </p:nvSpPr>
        <p:spPr>
          <a:xfrm>
            <a:off x="567000" y="640036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7200" b="1" u="none" strike="noStrike" dirty="0">
                <a:solidFill>
                  <a:srgbClr val="232323"/>
                </a:solidFill>
                <a:effectLst/>
                <a:uFillTx/>
                <a:latin typeface="Noto Serif"/>
                <a:ea typeface="Noto Serif"/>
              </a:rPr>
              <a:t>Les FAQ </a:t>
            </a:r>
            <a:endParaRPr lang="en-US" sz="7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E8BD7E4-AD8C-1D60-B86F-03012F324466}"/>
              </a:ext>
            </a:extLst>
          </p:cNvPr>
          <p:cNvSpPr txBox="1"/>
          <p:nvPr/>
        </p:nvSpPr>
        <p:spPr>
          <a:xfrm>
            <a:off x="1767623" y="1828347"/>
            <a:ext cx="6276105" cy="507831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Pouvons-nous faire le projet individuellement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NON</a:t>
            </a:r>
            <a:endParaRPr lang="en-US" sz="1350" dirty="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F4A0143-5A6D-D54D-59FD-563A7E408159}"/>
              </a:ext>
            </a:extLst>
          </p:cNvPr>
          <p:cNvSpPr txBox="1"/>
          <p:nvPr/>
        </p:nvSpPr>
        <p:spPr>
          <a:xfrm>
            <a:off x="1767622" y="2408067"/>
            <a:ext cx="6276107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Pouvons-nous soumettre un rapport déjà réalisé dans un autre module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NON</a:t>
            </a:r>
            <a:endParaRPr lang="en-US" sz="1350" dirty="0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CA2672F-112A-711F-BEF8-DA99F685D68D}"/>
              </a:ext>
            </a:extLst>
          </p:cNvPr>
          <p:cNvSpPr txBox="1"/>
          <p:nvPr/>
        </p:nvSpPr>
        <p:spPr>
          <a:xfrm>
            <a:off x="1767622" y="3023979"/>
            <a:ext cx="6276106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Combien de pages fera le rapport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Aucune limite</a:t>
            </a:r>
            <a:endParaRPr lang="en-US" sz="1350" dirty="0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DB69A62F-4070-A781-B245-0C3F083016C9}"/>
              </a:ext>
            </a:extLst>
          </p:cNvPr>
          <p:cNvSpPr txBox="1"/>
          <p:nvPr/>
        </p:nvSpPr>
        <p:spPr>
          <a:xfrm>
            <a:off x="1767620" y="3639891"/>
            <a:ext cx="6276109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Puis-je faire le rapport avec mon ami qui se trouve dans l'autre section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NON</a:t>
            </a:r>
            <a:endParaRPr lang="en-US" sz="1350" dirty="0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7BAD20F6-A59E-8994-C5CC-59E1C33B5D3E}"/>
              </a:ext>
            </a:extLst>
          </p:cNvPr>
          <p:cNvSpPr txBox="1"/>
          <p:nvPr/>
        </p:nvSpPr>
        <p:spPr>
          <a:xfrm>
            <a:off x="1767619" y="4255803"/>
            <a:ext cx="6276109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Pouvons-nous obtenir vos retours par e-mail ?</a:t>
            </a:r>
          </a:p>
          <a:p>
            <a:r>
              <a:rPr lang="fr-FR" sz="1350" dirty="0">
                <a:solidFill>
                  <a:srgbClr val="00B0F0"/>
                </a:solidFill>
              </a:rPr>
              <a:t>A. NON</a:t>
            </a:r>
            <a:endParaRPr lang="en-US" sz="1350" dirty="0"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106BADF0-8753-4D8F-D73B-5395CA18D965}"/>
              </a:ext>
            </a:extLst>
          </p:cNvPr>
          <p:cNvSpPr txBox="1"/>
          <p:nvPr/>
        </p:nvSpPr>
        <p:spPr>
          <a:xfrm>
            <a:off x="1767618" y="4887265"/>
            <a:ext cx="6276109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Pouvez-vous préciser l'industrie sur laquelle nous devons nous concentrer?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NON</a:t>
            </a:r>
            <a:endParaRPr lang="fr-FR" sz="9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AC90184-93EE-FF2B-C7FE-4BF2290F9CAA}"/>
              </a:ext>
            </a:extLst>
          </p:cNvPr>
          <p:cNvSpPr txBox="1"/>
          <p:nvPr/>
        </p:nvSpPr>
        <p:spPr>
          <a:xfrm>
            <a:off x="1767618" y="5527691"/>
            <a:ext cx="6276109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Pouvons-nous utiliser Chat GPT, Claude ou d'autres LLM pour rédiger le rapport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Oui…mais</a:t>
            </a:r>
          </a:p>
        </p:txBody>
      </p:sp>
      <p:pic>
        <p:nvPicPr>
          <p:cNvPr id="18" name="Picture 16">
            <a:extLst>
              <a:ext uri="{FF2B5EF4-FFF2-40B4-BE49-F238E27FC236}">
                <a16:creationId xmlns:a16="http://schemas.microsoft.com/office/drawing/2014/main" id="{33C167B3-5690-7BB0-6E7D-3CEE6A2C1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8603" l="435" r="9837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94035" y="2190131"/>
            <a:ext cx="591458" cy="460309"/>
          </a:xfrm>
          <a:prstGeom prst="rect">
            <a:avLst/>
          </a:prstGeom>
        </p:spPr>
      </p:pic>
      <p:pic>
        <p:nvPicPr>
          <p:cNvPr id="20" name="Picture 2" descr="Faq - Free communications icons">
            <a:extLst>
              <a:ext uri="{FF2B5EF4-FFF2-40B4-BE49-F238E27FC236}">
                <a16:creationId xmlns:a16="http://schemas.microsoft.com/office/drawing/2014/main" id="{20C7E268-D2CD-FF52-BF16-E26703226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276" y="2848323"/>
            <a:ext cx="1725706" cy="172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F9DD29C-5DC5-C8AC-EC2E-4C06BE121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693E711-23B5-2CB2-103C-7D8D23ED18A8}"/>
              </a:ext>
            </a:extLst>
          </p:cNvPr>
          <p:cNvSpPr txBox="1"/>
          <p:nvPr/>
        </p:nvSpPr>
        <p:spPr>
          <a:xfrm>
            <a:off x="1095402" y="132254"/>
            <a:ext cx="1568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eBusiness </a:t>
            </a:r>
          </a:p>
        </p:txBody>
      </p:sp>
    </p:spTree>
    <p:extLst>
      <p:ext uri="{BB962C8B-B14F-4D97-AF65-F5344CB8AC3E}">
        <p14:creationId xmlns:p14="http://schemas.microsoft.com/office/powerpoint/2010/main" val="97792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4F133-2AFF-74F9-FD74-1AC7B0A6C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>
            <a:extLst>
              <a:ext uri="{FF2B5EF4-FFF2-40B4-BE49-F238E27FC236}">
                <a16:creationId xmlns:a16="http://schemas.microsoft.com/office/drawing/2014/main" id="{18F1BF6C-2C30-FB92-1A1C-8DCD5152EE89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90C3204-4109-4037-91BF-FF34F22F842B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22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4DC7142E-0310-7694-8E3F-CE60B882D669}"/>
              </a:ext>
            </a:extLst>
          </p:cNvPr>
          <p:cNvSpPr/>
          <p:nvPr/>
        </p:nvSpPr>
        <p:spPr>
          <a:xfrm>
            <a:off x="567000" y="640036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7200" b="1" u="none" strike="noStrike" dirty="0">
                <a:solidFill>
                  <a:srgbClr val="232323"/>
                </a:solidFill>
                <a:effectLst/>
                <a:uFillTx/>
                <a:latin typeface="Noto Serif"/>
                <a:ea typeface="Noto Serif"/>
              </a:rPr>
              <a:t>Les FAQ </a:t>
            </a:r>
            <a:endParaRPr lang="en-US" sz="7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18EF33D9-CA96-DE6D-F5F1-CA2A12A788E7}"/>
              </a:ext>
            </a:extLst>
          </p:cNvPr>
          <p:cNvSpPr txBox="1"/>
          <p:nvPr/>
        </p:nvSpPr>
        <p:spPr>
          <a:xfrm>
            <a:off x="1757998" y="1913783"/>
            <a:ext cx="6276105" cy="507831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Les pages de garde du rapport et des présentations sont-elles standardisées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oui</a:t>
            </a:r>
            <a:endParaRPr lang="en-US" sz="1350" dirty="0"/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7647DD69-3EDE-09FB-6678-294BC55175DE}"/>
              </a:ext>
            </a:extLst>
          </p:cNvPr>
          <p:cNvSpPr txBox="1"/>
          <p:nvPr/>
        </p:nvSpPr>
        <p:spPr>
          <a:xfrm>
            <a:off x="1757997" y="2493503"/>
            <a:ext cx="6276107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Tous les membres du groupe doivent-ils présenter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Pas nécessairement, mais ils doivent être présents pendant la présentation</a:t>
            </a:r>
            <a:endParaRPr lang="en-US" sz="1350" dirty="0"/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630EA770-66EC-9C6E-3ABC-9EE59EF86DB9}"/>
              </a:ext>
            </a:extLst>
          </p:cNvPr>
          <p:cNvSpPr txBox="1"/>
          <p:nvPr/>
        </p:nvSpPr>
        <p:spPr>
          <a:xfrm>
            <a:off x="1757997" y="3109415"/>
            <a:ext cx="6276106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Combien de temps est alloué à la présentation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10 minutes (environ 10 diapositives)</a:t>
            </a:r>
            <a:endParaRPr lang="en-US" sz="1350" dirty="0"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E65C19DE-A454-70CC-8B2B-F2E5C4541584}"/>
              </a:ext>
            </a:extLst>
          </p:cNvPr>
          <p:cNvSpPr txBox="1"/>
          <p:nvPr/>
        </p:nvSpPr>
        <p:spPr>
          <a:xfrm>
            <a:off x="1757995" y="3725327"/>
            <a:ext cx="6276109" cy="7155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Y a-t-il un style de référencement particulier à utiliser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Oui, APA (American Psychology Association) </a:t>
            </a:r>
            <a:r>
              <a:rPr lang="fr-FR" sz="1350" b="1" dirty="0">
                <a:solidFill>
                  <a:srgbClr val="00B0F0"/>
                </a:solidFill>
                <a:hlinkClick r:id="rId3"/>
              </a:rPr>
              <a:t>https://cdn.scribbr.com/wp-content/uploads/2020/09/Manuel-APA-de-Scribbr-7eme-edition.pdf</a:t>
            </a:r>
            <a:r>
              <a:rPr lang="fr-FR" sz="1350" b="1" dirty="0">
                <a:solidFill>
                  <a:srgbClr val="00B0F0"/>
                </a:solidFill>
              </a:rPr>
              <a:t> </a:t>
            </a:r>
            <a:endParaRPr lang="en-US" sz="788" dirty="0"/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B6DE2554-2078-B240-5241-071F65EA3C7A}"/>
              </a:ext>
            </a:extLst>
          </p:cNvPr>
          <p:cNvSpPr txBox="1"/>
          <p:nvPr/>
        </p:nvSpPr>
        <p:spPr>
          <a:xfrm>
            <a:off x="1757992" y="4509911"/>
            <a:ext cx="6276109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Puis-je quitter la salle après avoir fini ma présentation ?</a:t>
            </a:r>
          </a:p>
          <a:p>
            <a:r>
              <a:rPr lang="fr-FR" sz="1350" dirty="0">
                <a:solidFill>
                  <a:srgbClr val="00B0F0"/>
                </a:solidFill>
              </a:rPr>
              <a:t>A. NON</a:t>
            </a:r>
            <a:endParaRPr lang="en-US" sz="1350" dirty="0"/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083D793F-D9C4-C0D0-CD48-916FA715B543}"/>
              </a:ext>
            </a:extLst>
          </p:cNvPr>
          <p:cNvSpPr txBox="1"/>
          <p:nvPr/>
        </p:nvSpPr>
        <p:spPr>
          <a:xfrm>
            <a:off x="1757992" y="5150159"/>
            <a:ext cx="7820897" cy="7155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Pouvons-nous vous rencontrer pour un retour sur l'avancement de notre travail ?</a:t>
            </a:r>
          </a:p>
          <a:p>
            <a:pPr marL="257175" indent="-257175">
              <a:buAutoNum type="alphaUcPeriod"/>
            </a:pPr>
            <a:r>
              <a:rPr lang="fr-FR" sz="1350" dirty="0"/>
              <a:t>Oui, en cours sans rendez-vous préalable, en dehors des cours sur rendez-vous uniquement @ </a:t>
            </a:r>
            <a:r>
              <a:rPr lang="fr-FR" sz="1350" dirty="0">
                <a:hlinkClick r:id="rId4"/>
              </a:rPr>
              <a:t>Marouane.trimeche@esprit.tn</a:t>
            </a:r>
            <a:r>
              <a:rPr lang="fr-FR" sz="1350" dirty="0"/>
              <a:t> </a:t>
            </a:r>
            <a:endParaRPr lang="en-US" sz="750" dirty="0"/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1D45ADC7-2BF7-EF6C-CAA2-B108FD215259}"/>
              </a:ext>
            </a:extLst>
          </p:cNvPr>
          <p:cNvSpPr txBox="1"/>
          <p:nvPr/>
        </p:nvSpPr>
        <p:spPr>
          <a:xfrm>
            <a:off x="1757992" y="5789221"/>
            <a:ext cx="6276109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Aurons-nous tous la même note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Pas systématiquement</a:t>
            </a:r>
            <a:endParaRPr lang="fr-FR" sz="1350" dirty="0"/>
          </a:p>
        </p:txBody>
      </p:sp>
      <p:pic>
        <p:nvPicPr>
          <p:cNvPr id="37" name="Picture 12">
            <a:extLst>
              <a:ext uri="{FF2B5EF4-FFF2-40B4-BE49-F238E27FC236}">
                <a16:creationId xmlns:a16="http://schemas.microsoft.com/office/drawing/2014/main" id="{9B8F0853-0FA6-E9C3-E25D-135BF2114A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603" l="435" r="9837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84410" y="2275567"/>
            <a:ext cx="591458" cy="460309"/>
          </a:xfrm>
          <a:prstGeom prst="rect">
            <a:avLst/>
          </a:prstGeom>
        </p:spPr>
      </p:pic>
      <p:pic>
        <p:nvPicPr>
          <p:cNvPr id="39" name="Picture 2" descr="Faq - Free communications icons">
            <a:extLst>
              <a:ext uri="{FF2B5EF4-FFF2-40B4-BE49-F238E27FC236}">
                <a16:creationId xmlns:a16="http://schemas.microsoft.com/office/drawing/2014/main" id="{6CC47459-0FDF-513F-74C9-BC9492BD9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651" y="2933759"/>
            <a:ext cx="1725706" cy="172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865A2A67-816A-83A5-1960-D80B964FD4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4A4E790-6F63-484C-004D-E168BE27AD8D}"/>
              </a:ext>
            </a:extLst>
          </p:cNvPr>
          <p:cNvSpPr txBox="1"/>
          <p:nvPr/>
        </p:nvSpPr>
        <p:spPr>
          <a:xfrm>
            <a:off x="1095402" y="132254"/>
            <a:ext cx="1568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eBusiness </a:t>
            </a:r>
          </a:p>
        </p:txBody>
      </p:sp>
    </p:spTree>
    <p:extLst>
      <p:ext uri="{BB962C8B-B14F-4D97-AF65-F5344CB8AC3E}">
        <p14:creationId xmlns:p14="http://schemas.microsoft.com/office/powerpoint/2010/main" val="1228742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46646-89C7-7901-43D4-6DCA7079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>
            <a:extLst>
              <a:ext uri="{FF2B5EF4-FFF2-40B4-BE49-F238E27FC236}">
                <a16:creationId xmlns:a16="http://schemas.microsoft.com/office/drawing/2014/main" id="{65733D39-50D5-D131-1F26-56198CCCE6D1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90C3204-4109-4037-91BF-FF34F22F842B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23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D77373C8-4D95-9F77-16F6-2881005DBE16}"/>
              </a:ext>
            </a:extLst>
          </p:cNvPr>
          <p:cNvSpPr/>
          <p:nvPr/>
        </p:nvSpPr>
        <p:spPr>
          <a:xfrm>
            <a:off x="567000" y="640036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7200" b="1" u="none" strike="noStrike" dirty="0">
                <a:solidFill>
                  <a:srgbClr val="232323"/>
                </a:solidFill>
                <a:effectLst/>
                <a:uFillTx/>
                <a:latin typeface="Noto Serif"/>
                <a:ea typeface="Noto Serif"/>
              </a:rPr>
              <a:t>Les FAQ </a:t>
            </a:r>
            <a:endParaRPr lang="en-US" sz="7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0C59393-46CF-9404-4338-56179E7A775B}"/>
              </a:ext>
            </a:extLst>
          </p:cNvPr>
          <p:cNvSpPr txBox="1"/>
          <p:nvPr/>
        </p:nvSpPr>
        <p:spPr>
          <a:xfrm>
            <a:off x="1738747" y="1837972"/>
            <a:ext cx="6276105" cy="507831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Pouvons-nous avoir la grille de notation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Oui, elle vous aidera à guider votre travail</a:t>
            </a:r>
            <a:endParaRPr lang="en-US" sz="1350" dirty="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E1DD03C7-F212-6436-7686-EB8434390CFD}"/>
              </a:ext>
            </a:extLst>
          </p:cNvPr>
          <p:cNvSpPr txBox="1"/>
          <p:nvPr/>
        </p:nvSpPr>
        <p:spPr>
          <a:xfrm>
            <a:off x="1738746" y="2417692"/>
            <a:ext cx="6276107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Doit-on présenter les briefs en classe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Oui, c'est juste une intro de 2 min (un elevator pitch)</a:t>
            </a:r>
            <a:endParaRPr lang="en-US" sz="1350" dirty="0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7DDBDD98-CB8B-EC59-2902-B4076452B7AA}"/>
              </a:ext>
            </a:extLst>
          </p:cNvPr>
          <p:cNvSpPr txBox="1"/>
          <p:nvPr/>
        </p:nvSpPr>
        <p:spPr>
          <a:xfrm>
            <a:off x="1738746" y="3033604"/>
            <a:ext cx="6276106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</a:t>
            </a:r>
            <a:r>
              <a:rPr lang="fr-FR" sz="1350" b="1" dirty="0" err="1">
                <a:latin typeface="Bradley Hand ITC" panose="03070402050302030203" pitchFamily="66" charset="0"/>
              </a:rPr>
              <a:t>Miselech</a:t>
            </a:r>
            <a:r>
              <a:rPr lang="fr-FR" sz="1350" b="1" dirty="0"/>
              <a:t>  je fais le projet sur l'entreprise de </a:t>
            </a:r>
            <a:r>
              <a:rPr lang="fr-FR" sz="1350" b="1" dirty="0" err="1"/>
              <a:t>Papati</a:t>
            </a:r>
            <a:r>
              <a:rPr lang="fr-FR" sz="1350" b="1" dirty="0"/>
              <a:t>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NON</a:t>
            </a:r>
            <a:endParaRPr lang="en-US" sz="1350" dirty="0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0B672512-7BC1-756E-C98D-266440178E45}"/>
              </a:ext>
            </a:extLst>
          </p:cNvPr>
          <p:cNvSpPr txBox="1"/>
          <p:nvPr/>
        </p:nvSpPr>
        <p:spPr>
          <a:xfrm>
            <a:off x="1738744" y="3649516"/>
            <a:ext cx="6276109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Doit-on soumettre un rapport ou une présentation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LES DEUX</a:t>
            </a:r>
            <a:endParaRPr lang="en-US" sz="788" b="1" dirty="0">
              <a:solidFill>
                <a:srgbClr val="00B0F0"/>
              </a:solidFill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06ADB9B3-9D38-E898-4DA4-13750122C986}"/>
              </a:ext>
            </a:extLst>
          </p:cNvPr>
          <p:cNvSpPr txBox="1"/>
          <p:nvPr/>
        </p:nvSpPr>
        <p:spPr>
          <a:xfrm>
            <a:off x="1738740" y="4288577"/>
            <a:ext cx="6276109" cy="7155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Nous avons beaucoup d'autres projets pour d'autres cours, pouvez-vous prolonger la date limite ?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NON</a:t>
            </a:r>
            <a:endParaRPr lang="en-US" sz="1350" b="1" dirty="0"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26A8D27D-5517-CE16-F374-C211C9E5A041}"/>
              </a:ext>
            </a:extLst>
          </p:cNvPr>
          <p:cNvSpPr txBox="1"/>
          <p:nvPr/>
        </p:nvSpPr>
        <p:spPr>
          <a:xfrm>
            <a:off x="1738739" y="4927637"/>
            <a:ext cx="6276109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Mais Monsieur, d'autres professeurs font ceci ou cela…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Mieux vaut ne pas formuler ce type de remarque</a:t>
            </a:r>
            <a:endParaRPr lang="fr-FR" sz="1350" b="1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3303B6B-311B-2AF4-A75F-56057680CE7D}"/>
              </a:ext>
            </a:extLst>
          </p:cNvPr>
          <p:cNvSpPr txBox="1"/>
          <p:nvPr/>
        </p:nvSpPr>
        <p:spPr>
          <a:xfrm>
            <a:off x="1738738" y="5568917"/>
            <a:ext cx="6276109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350" b="1" dirty="0"/>
              <a:t>Q. Mais Monsieur je n'ai pas accès à Blackboard !</a:t>
            </a:r>
          </a:p>
          <a:p>
            <a:r>
              <a:rPr lang="fr-FR" sz="1350" b="1" dirty="0">
                <a:solidFill>
                  <a:srgbClr val="00B0F0"/>
                </a:solidFill>
              </a:rPr>
              <a:t>A. Contactez le service IT.</a:t>
            </a:r>
          </a:p>
        </p:txBody>
      </p:sp>
      <p:pic>
        <p:nvPicPr>
          <p:cNvPr id="18" name="Picture 12">
            <a:extLst>
              <a:ext uri="{FF2B5EF4-FFF2-40B4-BE49-F238E27FC236}">
                <a16:creationId xmlns:a16="http://schemas.microsoft.com/office/drawing/2014/main" id="{A2EF94AC-72D6-2A61-2218-03D5E5F67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8603" l="435" r="9837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65159" y="2199756"/>
            <a:ext cx="591458" cy="460309"/>
          </a:xfrm>
          <a:prstGeom prst="rect">
            <a:avLst/>
          </a:prstGeom>
        </p:spPr>
      </p:pic>
      <p:pic>
        <p:nvPicPr>
          <p:cNvPr id="20" name="Picture 2" descr="Faq - Free communications icons">
            <a:extLst>
              <a:ext uri="{FF2B5EF4-FFF2-40B4-BE49-F238E27FC236}">
                <a16:creationId xmlns:a16="http://schemas.microsoft.com/office/drawing/2014/main" id="{A49F1A4B-F862-B79E-C3E8-39FF28F15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2857948"/>
            <a:ext cx="1725706" cy="172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1C2EB2C1-5113-B5CF-8854-86A635859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0E1475A-F36B-7B9B-C359-05B0D7DD9823}"/>
              </a:ext>
            </a:extLst>
          </p:cNvPr>
          <p:cNvSpPr txBox="1"/>
          <p:nvPr/>
        </p:nvSpPr>
        <p:spPr>
          <a:xfrm>
            <a:off x="1095402" y="132254"/>
            <a:ext cx="1568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eBusiness </a:t>
            </a:r>
          </a:p>
        </p:txBody>
      </p:sp>
    </p:spTree>
    <p:extLst>
      <p:ext uri="{BB962C8B-B14F-4D97-AF65-F5344CB8AC3E}">
        <p14:creationId xmlns:p14="http://schemas.microsoft.com/office/powerpoint/2010/main" val="2871323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567000" y="65844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900" b="1" spc="201" dirty="0">
                <a:solidFill>
                  <a:srgbClr val="D62828"/>
                </a:solidFill>
                <a:latin typeface="Noto Sans"/>
                <a:ea typeface="Noto Sans"/>
              </a:rPr>
              <a:t>QUESTIONS DIRECTRICES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566999" y="1328359"/>
            <a:ext cx="3302267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200" b="1" u="none" strike="noStrike" spc="201" dirty="0" err="1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Votre</a:t>
            </a:r>
            <a:r>
              <a:rPr lang="en-US" sz="2200" b="1" u="none" strike="noStrike" spc="201" dirty="0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 </a:t>
            </a:r>
            <a:r>
              <a:rPr lang="en-US" sz="2200" b="1" u="none" strike="noStrike" spc="201" dirty="0" err="1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projet</a:t>
            </a:r>
            <a:r>
              <a:rPr lang="en-US" sz="2200" b="1" u="none" strike="noStrike" spc="201" dirty="0">
                <a:solidFill>
                  <a:srgbClr val="707070"/>
                </a:solidFill>
                <a:effectLst/>
                <a:uFillTx/>
                <a:latin typeface="Noto Sans"/>
                <a:ea typeface="Noto Sans"/>
              </a:rPr>
              <a:t>, est il…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567000" y="1812919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7200" b="1" u="none" strike="noStrike" dirty="0">
                <a:solidFill>
                  <a:srgbClr val="232323"/>
                </a:solidFill>
                <a:effectLst/>
                <a:uFillTx/>
                <a:latin typeface="Noto Serif"/>
                <a:ea typeface="Noto Serif"/>
              </a:rPr>
              <a:t>Pertinent ?</a:t>
            </a:r>
            <a:endParaRPr lang="en-US" sz="7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574747" y="264240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7200" b="1" u="none" strike="noStrike" dirty="0">
                <a:solidFill>
                  <a:srgbClr val="232323"/>
                </a:solidFill>
                <a:effectLst/>
                <a:uFillTx/>
                <a:latin typeface="Noto Serif"/>
                <a:ea typeface="Noto Serif"/>
              </a:rPr>
              <a:t>Éthique ?</a:t>
            </a:r>
            <a:endParaRPr lang="en-US" sz="7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567000" y="4528671"/>
            <a:ext cx="65833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7200" b="1" u="none" strike="noStrike" dirty="0">
                <a:solidFill>
                  <a:srgbClr val="FF0000"/>
                </a:solidFill>
                <a:effectLst/>
                <a:uFillTx/>
                <a:latin typeface="Noto Serif"/>
                <a:ea typeface="Noto Serif"/>
              </a:rPr>
              <a:t>Viable ?</a:t>
            </a:r>
            <a:endParaRPr lang="en-US" sz="72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7452360" y="1188720"/>
            <a:ext cx="382176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Vérifiez les informations. Protégez les personnes, la vie privée et l'équité. Construisez quelque chose que le marché peut soutenir.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6"/>
          <p:cNvSpPr/>
          <p:nvPr/>
        </p:nvSpPr>
        <p:spPr>
          <a:xfrm>
            <a:off x="7452360" y="3246120"/>
            <a:ext cx="3794760" cy="360"/>
          </a:xfrm>
          <a:prstGeom prst="line">
            <a:avLst/>
          </a:prstGeom>
          <a:ln w="50800">
            <a:solidFill>
              <a:srgbClr val="D62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7452360" y="3835800"/>
            <a:ext cx="4215865" cy="205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000" b="0" i="1" u="none" strike="noStrike" dirty="0">
                <a:effectLst/>
                <a:uFillTx/>
                <a:latin typeface="Noto Serif"/>
                <a:ea typeface="Noto Serif"/>
              </a:rPr>
              <a:t>SUCCÈS </a:t>
            </a:r>
          </a:p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000" b="0" i="1" u="none" strike="noStrike" dirty="0">
                <a:effectLst/>
                <a:uFillTx/>
                <a:latin typeface="Noto Serif"/>
                <a:ea typeface="Noto Serif"/>
              </a:rPr>
              <a:t>= </a:t>
            </a:r>
          </a:p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000" b="0" i="1" u="none" strike="noStrike" dirty="0">
                <a:solidFill>
                  <a:srgbClr val="00B0F0"/>
                </a:solidFill>
                <a:effectLst/>
                <a:uFillTx/>
                <a:latin typeface="Noto Serif"/>
                <a:ea typeface="Noto Serif"/>
              </a:rPr>
              <a:t>VITESSE AI</a:t>
            </a:r>
          </a:p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000" b="0" i="1" u="none" strike="noStrike" dirty="0">
                <a:effectLst/>
                <a:uFillTx/>
                <a:latin typeface="Noto Serif"/>
                <a:ea typeface="Noto Serif"/>
              </a:rPr>
              <a:t>+ </a:t>
            </a:r>
          </a:p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3000" b="0" i="1" u="none" strike="noStrike" dirty="0">
                <a:solidFill>
                  <a:srgbClr val="00B0F0"/>
                </a:solidFill>
                <a:effectLst/>
                <a:uFillTx/>
                <a:latin typeface="Noto Serif"/>
                <a:ea typeface="Noto Serif"/>
              </a:rPr>
              <a:t>JUGEMENT HUMAIN</a:t>
            </a:r>
            <a:endParaRPr lang="en-US" sz="3000" b="0" u="none" strike="noStrike" dirty="0">
              <a:solidFill>
                <a:srgbClr val="00B0F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567000" y="5989320"/>
            <a:ext cx="7040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300" b="1" u="none" strike="noStrike" spc="201">
                <a:solidFill>
                  <a:srgbClr val="232323"/>
                </a:solidFill>
                <a:effectLst/>
                <a:uFillTx/>
                <a:latin typeface="Noto Sans"/>
                <a:ea typeface="Noto Sans"/>
              </a:rPr>
              <a:t>CONSTRUISEZ QUELQUE CHOSE QUI COMPTE.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sldNum" idx="14"/>
          </p:nvPr>
        </p:nvSpPr>
        <p:spPr>
          <a:xfrm>
            <a:off x="567000" y="6473880"/>
            <a:ext cx="456840" cy="18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90C3204-4109-4037-91BF-FF34F22F842B}" type="slidenum">
              <a:rPr lang="en-US" sz="800" b="1" u="none" strike="noStrike">
                <a:solidFill>
                  <a:srgbClr val="1A1A1A"/>
                </a:solidFill>
                <a:effectLst/>
                <a:uFillTx/>
                <a:latin typeface="Noto Sans"/>
                <a:ea typeface="Noto Sans"/>
              </a:rPr>
              <a:t>24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D1A5E2-9EC5-1AD2-B5E7-4040E6E34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5424" y="68457"/>
            <a:ext cx="371574" cy="37157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A8BD9F4-FB83-E696-D4FA-591B16865A23}"/>
              </a:ext>
            </a:extLst>
          </p:cNvPr>
          <p:cNvSpPr txBox="1"/>
          <p:nvPr/>
        </p:nvSpPr>
        <p:spPr>
          <a:xfrm>
            <a:off x="1095402" y="132254"/>
            <a:ext cx="156828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eBusiness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B1983D8-8BE8-61DD-DCAD-6F232000AE2F}"/>
              </a:ext>
            </a:extLst>
          </p:cNvPr>
          <p:cNvSpPr/>
          <p:nvPr/>
        </p:nvSpPr>
        <p:spPr>
          <a:xfrm>
            <a:off x="566820" y="3533454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7200" b="1" u="none" strike="noStrike" dirty="0">
                <a:solidFill>
                  <a:srgbClr val="232323"/>
                </a:solidFill>
                <a:effectLst/>
                <a:uFillTx/>
                <a:latin typeface="Noto Serif"/>
                <a:ea typeface="Noto Serif"/>
              </a:rPr>
              <a:t>Impactant?</a:t>
            </a:r>
            <a:endParaRPr lang="en-US" sz="7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2287</TotalTime>
  <Words>2219</Words>
  <Application>Microsoft Office PowerPoint</Application>
  <PresentationFormat>Grand écran</PresentationFormat>
  <Paragraphs>440</Paragraphs>
  <Slides>24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6" baseType="lpstr">
      <vt:lpstr>Aptos</vt:lpstr>
      <vt:lpstr>Arial</vt:lpstr>
      <vt:lpstr>Arial Narrow</vt:lpstr>
      <vt:lpstr>Bradley Hand ITC</vt:lpstr>
      <vt:lpstr>Calibri</vt:lpstr>
      <vt:lpstr>Cambria</vt:lpstr>
      <vt:lpstr>Noto Sans</vt:lpstr>
      <vt:lpstr>Noto Serif</vt:lpstr>
      <vt:lpstr>Symbol</vt:lpstr>
      <vt:lpstr>Times New Roman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Projet eBusiness :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marouane trimeche</cp:lastModifiedBy>
  <cp:revision>15</cp:revision>
  <dcterms:created xsi:type="dcterms:W3CDTF">2026-09-15T13:49:43Z</dcterms:created>
  <dcterms:modified xsi:type="dcterms:W3CDTF">2026-09-22T12:17:10Z</dcterms:modified>
</cp:coreProperties>
</file>